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2370c3d5-1f17-0d10-811e-38d596b17cd0}">
          <p14:sldIdLst>
            <p14:sldId id="257"/>
            <p14:sldId id="258"/>
          </p14:sldIdLst>
        </p14:section>
        <p14:section name="Findings" id="{83350741-27c4-6673-af07-fd390ff33821}">
          <p14:sldIdLst>
            <p14:sldId id="259"/>
            <p14:sldId id="260"/>
            <p14:sldId id="261"/>
          </p14:sldIdLst>
        </p14:section>
        <p14:section name="Dashboard" id="{420e0290-2591-0aeb-1377-4698f8fae770}">
          <p14:sldIdLst>
            <p14:sldId id="262"/>
          </p14:sldIdLst>
        </p14:section>
        <p14:section name="Actions" id="{3db91be4-c6ab-1d42-8c1f-673ab5fc654c}">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04D"/>
                </a:solidFill>
                <a:latin typeface="+mn-lt"/>
              </a:defRPr>
            </a:pPr>
            <a:r>
              <a:rPr sz="1400" b="0" i="0" u="none" strike="noStrike">
                <a:solidFill>
                  <a:srgbClr val="14304D"/>
                </a:solidFill>
                <a:latin typeface="+mn-lt"/>
              </a:rPr>
              <a:t>Average salary by role (Rs lakh)</a:t>
            </a:r>
          </a:p>
        </c:rich>
      </c:tx>
      <c:layout/>
      <c:overlay val="0"/>
    </c:title>
    <c:autoTitleDeleted val="0"/>
    <c:plotArea>
      <c:layout/>
      <c:barChart>
        <c:barDir val="col"/>
        <c:grouping val="clustered"/>
        <c:varyColors val="0"/>
        <c:ser>
          <c:idx val="0"/>
          <c:order val="0"/>
          <c:tx>
            <c:strRef>
              <c:f>Sheet1!$B$1</c:f>
              <c:strCache>
                <c:ptCount val="1"/>
                <c:pt idx="0">
                  <c:v>Women</c:v>
                </c:pt>
              </c:strCache>
            </c:strRef>
          </c:tx>
          <c:spPr>
            <a:solidFill>
              <a:srgbClr val="E07B3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Intern</c:v>
                  </c:pt>
                  <c:pt idx="1">
                    <c:v>Junior Assoc.</c:v>
                  </c:pt>
                  <c:pt idx="2">
                    <c:v>Associate</c:v>
                  </c:pt>
                  <c:pt idx="3">
                    <c:v>Senior Assoc.</c:v>
                  </c:pt>
                  <c:pt idx="4">
                    <c:v>Team Lead</c:v>
                  </c:pt>
                  <c:pt idx="5">
                    <c:v>Manager</c:v>
                  </c:pt>
                  <c:pt idx="6">
                    <c:v>Senior Mgr</c:v>
                  </c:pt>
                  <c:pt idx="7">
                    <c:v>Director</c:v>
                  </c:pt>
                </c:lvl>
              </c:multiLvlStrCache>
            </c:multiLvlStrRef>
          </c:cat>
          <c:val>
            <c:numRef>
              <c:f>Sheet1!$B$2:$B$9</c:f>
              <c:numCache>
                <c:formatCode>General</c:formatCode>
                <c:ptCount val="8"/>
                <c:pt idx="0">
                  <c:v>2.94</c:v>
                </c:pt>
                <c:pt idx="1">
                  <c:v>5.43</c:v>
                </c:pt>
                <c:pt idx="2">
                  <c:v>8.29</c:v>
                </c:pt>
                <c:pt idx="3">
                  <c:v>11.97</c:v>
                </c:pt>
                <c:pt idx="4">
                  <c:v>17.29</c:v>
                </c:pt>
                <c:pt idx="5">
                  <c:v>23.36</c:v>
                </c:pt>
                <c:pt idx="6">
                  <c:v>36.47</c:v>
                </c:pt>
                <c:pt idx="7">
                  <c:v>54.67</c:v>
                </c:pt>
              </c:numCache>
            </c:numRef>
          </c:val>
        </c:ser>
        <c:ser>
          <c:idx val="1"/>
          <c:order val="1"/>
          <c:tx>
            <c:strRef>
              <c:f>Sheet1!$C$1</c:f>
              <c:strCache>
                <c:ptCount val="1"/>
                <c:pt idx="0">
                  <c:v>Men</c:v>
                </c:pt>
              </c:strCache>
            </c:strRef>
          </c:tx>
          <c:spPr>
            <a:solidFill>
              <a:srgbClr val="1F4E7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Intern</c:v>
                  </c:pt>
                  <c:pt idx="1">
                    <c:v>Junior Assoc.</c:v>
                  </c:pt>
                  <c:pt idx="2">
                    <c:v>Associate</c:v>
                  </c:pt>
                  <c:pt idx="3">
                    <c:v>Senior Assoc.</c:v>
                  </c:pt>
                  <c:pt idx="4">
                    <c:v>Team Lead</c:v>
                  </c:pt>
                  <c:pt idx="5">
                    <c:v>Manager</c:v>
                  </c:pt>
                  <c:pt idx="6">
                    <c:v>Senior Mgr</c:v>
                  </c:pt>
                  <c:pt idx="7">
                    <c:v>Director</c:v>
                  </c:pt>
                </c:lvl>
              </c:multiLvlStrCache>
            </c:multiLvlStrRef>
          </c:cat>
          <c:val>
            <c:numRef>
              <c:f>Sheet1!$C$2:$C$9</c:f>
              <c:numCache>
                <c:formatCode>General</c:formatCode>
                <c:ptCount val="8"/>
                <c:pt idx="0">
                  <c:v>3.11</c:v>
                </c:pt>
                <c:pt idx="1">
                  <c:v>5.82</c:v>
                </c:pt>
                <c:pt idx="2">
                  <c:v>8.76</c:v>
                </c:pt>
                <c:pt idx="3">
                  <c:v>12.7</c:v>
                </c:pt>
                <c:pt idx="4">
                  <c:v>18.04</c:v>
                </c:pt>
                <c:pt idx="5">
                  <c:v>25.64</c:v>
                </c:pt>
                <c:pt idx="6">
                  <c:v>38.69</c:v>
                </c:pt>
                <c:pt idx="7">
                  <c:v>59.34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04D"/>
                </a:solidFill>
                <a:latin typeface="+mn-lt"/>
              </a:defRPr>
            </a:pPr>
            <a:r>
              <a:rPr sz="1400" b="0" i="0" u="none" strike="noStrike">
                <a:solidFill>
                  <a:srgbClr val="14304D"/>
                </a:solidFill>
                <a:latin typeface="+mn-lt"/>
              </a:rPr>
              <a:t>Gender pay gap by department (%)</a:t>
            </a:r>
          </a:p>
        </c:rich>
      </c:tx>
      <c:layout/>
      <c:overlay val="0"/>
    </c:title>
    <c:autoTitleDeleted val="0"/>
    <c:plotArea>
      <c:layout/>
      <c:barChart>
        <c:barDir val="bar"/>
        <c:grouping val="clustered"/>
        <c:varyColors val="0"/>
        <c:ser>
          <c:idx val="0"/>
          <c:order val="0"/>
          <c:tx>
            <c:strRef>
              <c:f>Sheet1!$B$1</c:f>
              <c:strCache>
                <c:ptCount val="1"/>
                <c:pt idx="0">
                  <c:v>Pay gap %</c:v>
                </c:pt>
              </c:strCache>
            </c:strRef>
          </c:tx>
          <c:spPr>
            <a:solidFill>
              <a:srgbClr val="C0504D"/>
            </a:solidFill>
            <a:effectLst/>
          </c:spPr>
          <c:invertIfNegative val="0"/>
          <c:dLbls>
            <c:numFmt formatCode="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Sheet1!$A$2:$A$9</c:f>
              <c:multiLvlStrCache>
                <c:ptCount val="8"/>
                <c:lvl>
                  <c:pt idx="0">
                    <c:v>IT</c:v>
                  </c:pt>
                  <c:pt idx="1">
                    <c:v>Marketing</c:v>
                  </c:pt>
                  <c:pt idx="2">
                    <c:v>Operations</c:v>
                  </c:pt>
                  <c:pt idx="3">
                    <c:v>HR</c:v>
                  </c:pt>
                  <c:pt idx="4">
                    <c:v>Data Science</c:v>
                  </c:pt>
                  <c:pt idx="5">
                    <c:v>Sales</c:v>
                  </c:pt>
                  <c:pt idx="6">
                    <c:v>Finance</c:v>
                  </c:pt>
                  <c:pt idx="7">
                    <c:v>Customer Support</c:v>
                  </c:pt>
                </c:lvl>
              </c:multiLvlStrCache>
            </c:multiLvlStrRef>
          </c:cat>
          <c:val>
            <c:numRef>
              <c:f>Sheet1!$B$2:$B$9</c:f>
              <c:numCache>
                <c:formatCode>General</c:formatCode>
                <c:ptCount val="8"/>
                <c:pt idx="0">
                  <c:v>1.7</c:v>
                </c:pt>
                <c:pt idx="1">
                  <c:v>3.5</c:v>
                </c:pt>
                <c:pt idx="2">
                  <c:v>4.9</c:v>
                </c:pt>
                <c:pt idx="3">
                  <c:v>6.6</c:v>
                </c:pt>
                <c:pt idx="4">
                  <c:v>8.9</c:v>
                </c:pt>
                <c:pt idx="5">
                  <c:v>9</c:v>
                </c:pt>
                <c:pt idx="6">
                  <c:v>10.4</c:v>
                </c:pt>
                <c:pt idx="7">
                  <c:v>12.4</c:v>
                </c:pt>
              </c:numCache>
            </c:numRef>
          </c:val>
        </c:ser>
        <c:dLbls>
          <c:numFmt formatCode="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15"/>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the Salary Band and Pay Gap Analysis for an HR team. The business question is simple: is pay consistent across roles and gender? I analysed 10,500 employees across 8 roles and 12 cities. As a quick preview, on average women earn 13.26 lakh and men earn 14.15 lakh, a gap of about 6 percent. In the next five minutes I will show how I found this, where the gap is biggest, and what HR should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suspects that pay is not fair across roles, departments and gender. HR wants to know three things: first, do men and women earn the same? Second, are salary bands consistent across roles? And third, where are the biggest gaps? I used a dataset of 10,500 employees with Indian names. It is a synthetic dataset I created for this project, with realistic problems like missing values and duplicates, so I could practise the full analysis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five steps. One: in Excel I cleaned the data. I removed 250 duplicate rows, fixed over 3,900 missing values and standardised labels, like Male, M and male into one value. Two: I wrote ten SQL queries on four tables using JOINs, a CTE and window functions. Three: in Python I made eight charts and ran a regression to test whether the gap has a hidden explanation. Four: I built a Power BI dashboard with filters and KPI cards. Five: I wrote insights and recommendations with a cost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main finding. The chart shows average salary for each of the 8 job roles. Orange is women and navy is men. Men earn more in every single role, from Intern to Director. The overall gap is 6.2 percent, which is about 88,000 rupees per woman every year. I also checked with SQL, comparing men and women inside the same role, and the gap ranges from 4 percent at Team Lead to almost 9 percent at Manager. So it is not just because women hold junior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where is the gap biggest? By department, Customer Support has a 12 percent gap and Finance 10 percent. IT is almost equal at 1.7 percent. My SQL query that joined four tables found smaller pockets with a gap near 20 percent, for example Customer Support in Jaipur and Data Science in Bengaluru. Also, women are 42.8 percent of the lowest-paid quarter of employees but only 37.4 percent of the top quarter. So women are not missing from senior roles; they are paid less within the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gap matters. First, I ran a regression in Python that controls for job level, experience, performance, department and city. Women still earn 6.5 percent less, so the gap is not explained by any factor in the data. Second, the correlation between performance rating and salary is zero, so pay is not rewarding good performance. Third, salary bands are very wide: in one role the highest paid earns up to 4.6 times the lowest. And 368 employees earn more than one and a half times the average for their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Power BI dashboard. At the top are five filters, so HR can look at any department, role or city. Then five KPI cards: total employees, average salary, median salary, the gender pay gap and the share of women. Below are six visuals. One colour code is used everywhere: orange for women and navy for men. I can show it live: if I choose IT the gap falls to 1.7 percent, and if I choose Customer Support it rises to 12.4 percent. I did not add a gender filter because the gap measure already compares men and 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findings I recommend five actions. One, a pay equity adjustment for women paid below their male peers. This costs about 36 crore rupees a year, which is 2.5 percent of payroll. Two, tighter salary bands, about 25 percent either side of a midpoint. Three, a merit matrix so performance is rewarded. Four, fair hiring and promotion rules. Five, city pay tiers and a quarterly review using the dashboard. My target is to bring the gap from 6.2 percent to under 2 percent within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pay is not consistent. Women earn 6.2 percent less in every role. The gap is not explained by role, experience or performance, and pay does not reward performance. But it is fixable: around 36 crore rupees a year closes the gap, and the dashboard lets HR track progress every quarter. Thank you.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304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583680" cy="201168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3" name="Text 0"/>
          <p:cNvSpPr/>
          <p:nvPr>
            <p:ph idx="101" type="body" hasCustomPrompt="1"/>
          </p:nvPr>
        </p:nvSpPr>
        <p:spPr>
          <a:xfrm>
            <a:off x="640080" y="3931920"/>
            <a:ext cx="6400800" cy="1097280"/>
          </a:xfrm>
          <a:prstGeom prst="rect">
            <a:avLst/>
          </a:prstGeom>
          <a:noFill/>
          <a:ln/>
        </p:spPr>
        <p:txBody>
          <a:bodyPr wrap="square" rtlCol="0"/>
          <a:lstStyle>
            <a:lvl1pPr indent="0" marL="0">
              <a:buNone/>
              <a:defRPr lang="en-US" sz="1800" dirty="0">
                <a:solidFill>
                  <a:srgbClr val="CADC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rgbClr val="14304D"/>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4304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rtlCol="0"/>
          <a:lstStyle>
            <a:lvl1pPr indent="0" marL="0">
              <a:buNone/>
              <a:defRPr lang="en-US" sz="3800" b="1" dirty="0">
                <a:solidFill>
                  <a:srgbClr val="FFFFFF"/>
                </a:solidFill>
              </a:defRPr>
            </a:lvl1pPr>
          </a:lstStyle>
          <a:p>
            <a:pPr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583680" cy="2011680"/>
          </a:xfrm>
          <a:prstGeom prst="rect">
            <a:avLst/>
          </a:prstGeom>
          <a:noFill/>
          <a:ln/>
        </p:spPr>
        <p:txBody>
          <a:bodyPr wrap="square" lIns="0" tIns="0" rIns="0" bIns="0" rtlCol="0" anchor="t"/>
          <a:lstStyle/>
          <a:p>
            <a:pPr indent="0" marL="0">
              <a:buNone/>
            </a:pPr>
            <a:r>
              <a:rPr lang="en-US" sz="4400" b="1" dirty="0">
                <a:solidFill>
                  <a:srgbClr val="FFFFFF"/>
                </a:solidFill>
              </a:rPr>
              <a:t>Is Pay Consistent Across Roles and Gender?</a:t>
            </a:r>
            <a:endParaRPr lang="en-US" sz="4400" dirty="0"/>
          </a:p>
        </p:txBody>
      </p:sp>
      <p:sp>
        <p:nvSpPr>
          <p:cNvPr id="3" name="Text 0"/>
          <p:cNvSpPr/>
          <p:nvPr>
            <p:ph idx="101" type="body" hasCustomPrompt="1"/>
          </p:nvPr>
        </p:nvSpPr>
        <p:spPr>
          <a:xfrm>
            <a:off x="640080" y="3931920"/>
            <a:ext cx="6400800" cy="1097280"/>
          </a:xfrm>
          <a:prstGeom prst="rect">
            <a:avLst/>
          </a:prstGeom>
          <a:noFill/>
          <a:ln/>
        </p:spPr>
        <p:txBody>
          <a:bodyPr wrap="square" lIns="0" tIns="0" rIns="0" bIns="0" rtlCol="0" anchor="t"/>
          <a:lstStyle/>
          <a:p>
            <a:pPr indent="0" marL="0">
              <a:buNone/>
            </a:pPr>
            <a:r>
              <a:rPr lang="en-US" sz="1800" dirty="0">
                <a:solidFill>
                  <a:srgbClr val="CADCFC"/>
                </a:solidFill>
              </a:rPr>
              <a:t>Salary Band &amp; Pay Gap Analysis</a:t>
            </a:r>
            <a:endParaRPr lang="en-US" sz="1800" dirty="0"/>
          </a:p>
          <a:p>
            <a:pPr indent="0" marL="0">
              <a:buNone/>
            </a:pPr>
            <a:r>
              <a:rPr lang="en-US" sz="1800" dirty="0">
                <a:solidFill>
                  <a:srgbClr val="CADCFC"/>
                </a:solidFill>
              </a:rPr>
              <a:t>HR &amp; Workforce Analytics (DA-23)</a:t>
            </a:r>
            <a:endParaRPr lang="en-US" sz="1800" dirty="0"/>
          </a:p>
        </p:txBody>
      </p:sp>
      <p:sp>
        <p:nvSpPr>
          <p:cNvPr id="4" name="Text 2"/>
          <p:cNvSpPr txBox="1"/>
          <p:nvPr/>
        </p:nvSpPr>
        <p:spPr>
          <a:xfrm>
            <a:off x="640080" y="5760720"/>
            <a:ext cx="6400800" cy="365760"/>
          </a:xfrm>
          <a:prstGeom prst="rect">
            <a:avLst/>
          </a:prstGeom>
          <a:noFill/>
          <a:ln/>
        </p:spPr>
        <p:txBody>
          <a:bodyPr wrap="square" lIns="0" tIns="0" rIns="0" bIns="0" rtlCol="0" anchor="ctr"/>
          <a:lstStyle/>
          <a:p>
            <a:pPr indent="0" marL="0">
              <a:buNone/>
            </a:pPr>
            <a:r>
              <a:rPr lang="en-US" sz="1400" dirty="0">
                <a:solidFill>
                  <a:schemeClr val="accent5"/>
                </a:solidFill>
              </a:rPr>
              <a:t>10,500 employees  |  8 roles  |  9 departments  |  12 cities</a:t>
            </a:r>
            <a:endParaRPr lang="en-US" sz="1400" dirty="0"/>
          </a:p>
        </p:txBody>
      </p:sp>
      <p:sp>
        <p:nvSpPr>
          <p:cNvPr id="5" name="Female circle"/>
          <p:cNvSpPr/>
          <p:nvPr/>
        </p:nvSpPr>
        <p:spPr>
          <a:xfrm>
            <a:off x="7315200" y="1280160"/>
            <a:ext cx="3017520" cy="3017520"/>
          </a:xfrm>
          <a:prstGeom prst="ellipse">
            <a:avLst/>
          </a:prstGeom>
          <a:solidFill>
            <a:schemeClr val="accent1"/>
          </a:solidFill>
          <a:ln/>
        </p:spPr>
      </p:sp>
      <p:sp>
        <p:nvSpPr>
          <p:cNvPr id="6" name="Male circle"/>
          <p:cNvSpPr/>
          <p:nvPr/>
        </p:nvSpPr>
        <p:spPr>
          <a:xfrm>
            <a:off x="8686800" y="2743200"/>
            <a:ext cx="3017520" cy="3017520"/>
          </a:xfrm>
          <a:prstGeom prst="ellipse">
            <a:avLst/>
          </a:prstGeom>
          <a:solidFill>
            <a:schemeClr val="accent2"/>
          </a:solidFill>
          <a:ln w="38100">
            <a:solidFill>
              <a:schemeClr val="bg1"/>
            </a:solidFill>
            <a:prstDash val="solid"/>
          </a:ln>
        </p:spPr>
      </p:sp>
      <p:sp>
        <p:nvSpPr>
          <p:cNvPr id="7" name="Text 5"/>
          <p:cNvSpPr txBox="1"/>
          <p:nvPr/>
        </p:nvSpPr>
        <p:spPr>
          <a:xfrm>
            <a:off x="7406640" y="2011680"/>
            <a:ext cx="1920240" cy="1280160"/>
          </a:xfrm>
          <a:prstGeom prst="rect">
            <a:avLst/>
          </a:prstGeom>
          <a:noFill/>
          <a:ln/>
        </p:spPr>
        <p:txBody>
          <a:bodyPr wrap="square" lIns="0" tIns="0" rIns="0" bIns="0" rtlCol="0" anchor="ctr"/>
          <a:lstStyle/>
          <a:p>
            <a:pPr algn="ctr" indent="0" marL="0">
              <a:buNone/>
            </a:pPr>
            <a:r>
              <a:rPr lang="en-US" sz="2800" b="1" dirty="0">
                <a:solidFill>
                  <a:schemeClr val="bg1"/>
                </a:solidFill>
              </a:rPr>
              <a:t>Rs 13.26L</a:t>
            </a:r>
            <a:endParaRPr lang="en-US" sz="2800" dirty="0"/>
          </a:p>
          <a:p>
            <a:pPr algn="ctr" indent="0" marL="0">
              <a:buNone/>
            </a:pPr>
            <a:r>
              <a:rPr lang="en-US" sz="1400" dirty="0">
                <a:solidFill>
                  <a:schemeClr val="bg1"/>
                </a:solidFill>
              </a:rPr>
              <a:t>Women (avg)</a:t>
            </a:r>
            <a:endParaRPr lang="en-US" sz="2800" dirty="0"/>
          </a:p>
        </p:txBody>
      </p:sp>
      <p:sp>
        <p:nvSpPr>
          <p:cNvPr id="8" name="Text 6"/>
          <p:cNvSpPr txBox="1"/>
          <p:nvPr/>
        </p:nvSpPr>
        <p:spPr>
          <a:xfrm>
            <a:off x="9235440" y="3657600"/>
            <a:ext cx="1920240" cy="1280160"/>
          </a:xfrm>
          <a:prstGeom prst="rect">
            <a:avLst/>
          </a:prstGeom>
          <a:noFill/>
          <a:ln/>
        </p:spPr>
        <p:txBody>
          <a:bodyPr wrap="square" lIns="0" tIns="0" rIns="0" bIns="0" rtlCol="0" anchor="ctr"/>
          <a:lstStyle/>
          <a:p>
            <a:pPr algn="ctr" indent="0" marL="0">
              <a:buNone/>
            </a:pPr>
            <a:r>
              <a:rPr lang="en-US" sz="2800" b="1" dirty="0">
                <a:solidFill>
                  <a:schemeClr val="bg1"/>
                </a:solidFill>
              </a:rPr>
              <a:t>Rs 14.15L</a:t>
            </a:r>
            <a:endParaRPr lang="en-US" sz="2800" dirty="0"/>
          </a:p>
          <a:p>
            <a:pPr algn="ctr" indent="0" marL="0">
              <a:buNone/>
            </a:pPr>
            <a:r>
              <a:rPr lang="en-US" sz="1400" dirty="0">
                <a:solidFill>
                  <a:schemeClr val="bg1"/>
                </a:solidFill>
              </a:rPr>
              <a:t>Men (avg)</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The problem HR wants solved</a:t>
            </a:r>
            <a:endParaRPr lang="en-US" sz="3400" dirty="0"/>
          </a:p>
        </p:txBody>
      </p:sp>
      <p:sp>
        <p:nvSpPr>
          <p:cNvPr id="3" name="Text 1"/>
          <p:cNvSpPr txBox="1"/>
          <p:nvPr/>
        </p:nvSpPr>
        <p:spPr>
          <a:xfrm>
            <a:off x="548640" y="1371600"/>
            <a:ext cx="4754880" cy="2194560"/>
          </a:xfrm>
          <a:prstGeom prst="rect">
            <a:avLst/>
          </a:prstGeom>
          <a:noFill/>
          <a:ln/>
        </p:spPr>
        <p:txBody>
          <a:bodyPr wrap="square" lIns="0" tIns="0" rIns="0" bIns="0" rtlCol="0" anchor="t"/>
          <a:lstStyle/>
          <a:p>
            <a:pPr indent="0" marL="0">
              <a:buNone/>
            </a:pPr>
            <a:r>
              <a:rPr lang="en-US" sz="1800" dirty="0">
                <a:solidFill>
                  <a:schemeClr val="tx1"/>
                </a:solidFill>
              </a:rPr>
              <a:t>A company with 10,500 employees suspects that pay is unfair across roles, departments and gender. HR needs data to build fair salary bands and fix any gap.</a:t>
            </a:r>
            <a:endParaRPr lang="en-US" sz="1800" dirty="0"/>
          </a:p>
        </p:txBody>
      </p:sp>
      <p:sp>
        <p:nvSpPr>
          <p:cNvPr id="4" name="Data card"/>
          <p:cNvSpPr/>
          <p:nvPr/>
        </p:nvSpPr>
        <p:spPr>
          <a:xfrm>
            <a:off x="548640" y="3931920"/>
            <a:ext cx="4754880" cy="1737360"/>
          </a:xfrm>
          <a:prstGeom prst="roundRect">
            <a:avLst>
              <a:gd name="adj" fmla="val 7895"/>
            </a:avLst>
          </a:prstGeom>
          <a:solidFill>
            <a:schemeClr val="bg2"/>
          </a:solidFill>
          <a:ln/>
        </p:spPr>
      </p:sp>
      <p:sp>
        <p:nvSpPr>
          <p:cNvPr id="5" name="Text 3"/>
          <p:cNvSpPr txBox="1"/>
          <p:nvPr/>
        </p:nvSpPr>
        <p:spPr>
          <a:xfrm>
            <a:off x="777240" y="4069080"/>
            <a:ext cx="4297680" cy="1463040"/>
          </a:xfrm>
          <a:prstGeom prst="rect">
            <a:avLst/>
          </a:prstGeom>
          <a:noFill/>
          <a:ln/>
        </p:spPr>
        <p:txBody>
          <a:bodyPr wrap="square" lIns="0" tIns="0" rIns="0" bIns="0" rtlCol="0" anchor="t"/>
          <a:lstStyle/>
          <a:p>
            <a:pPr indent="0" marL="0">
              <a:buNone/>
            </a:pPr>
            <a:r>
              <a:rPr lang="en-US" sz="1600" b="1" dirty="0">
                <a:solidFill>
                  <a:schemeClr val="tx2"/>
                </a:solidFill>
              </a:rPr>
              <a:t>Data used</a:t>
            </a:r>
            <a:endParaRPr lang="en-US" sz="1600" dirty="0"/>
          </a:p>
          <a:p>
            <a:pPr indent="0" marL="0">
              <a:buNone/>
            </a:pPr>
            <a:r>
              <a:rPr lang="en-US" sz="1400" dirty="0">
                <a:solidFill>
                  <a:schemeClr val="tx1"/>
                </a:solidFill>
              </a:rPr>
              <a:t>10,500 employees after cleaning, 13 columns: gender, department, role, city, experience, salary, rating. Synthetic dataset with Indian names.</a:t>
            </a:r>
            <a:endParaRPr lang="en-US" sz="1600" dirty="0"/>
          </a:p>
        </p:txBody>
      </p:sp>
      <p:sp>
        <p:nvSpPr>
          <p:cNvPr id="6" name="Question card 1"/>
          <p:cNvSpPr/>
          <p:nvPr/>
        </p:nvSpPr>
        <p:spPr>
          <a:xfrm>
            <a:off x="5943600" y="1371600"/>
            <a:ext cx="5669280" cy="1280160"/>
          </a:xfrm>
          <a:prstGeom prst="roundRect">
            <a:avLst>
              <a:gd name="adj" fmla="val 10714"/>
            </a:avLst>
          </a:prstGeom>
          <a:solidFill>
            <a:schemeClr val="bg2"/>
          </a:solidFill>
          <a:ln/>
        </p:spPr>
      </p:sp>
      <p:sp>
        <p:nvSpPr>
          <p:cNvPr id="7" name="Icon circle 1"/>
          <p:cNvSpPr/>
          <p:nvPr/>
        </p:nvSpPr>
        <p:spPr>
          <a:xfrm>
            <a:off x="6217920" y="1600200"/>
            <a:ext cx="822960" cy="822960"/>
          </a:xfrm>
          <a:prstGeom prst="ellipse">
            <a:avLst/>
          </a:prstGeom>
          <a:solidFill>
            <a:schemeClr val="accent1"/>
          </a:solidFill>
          <a:ln/>
        </p:spPr>
      </p:sp>
      <p:pic>
        <p:nvPicPr>
          <p:cNvPr id="8" name="Image 0" descr="icon">    </p:cNvPr>
          <p:cNvPicPr>
            <a:picLocks noChangeAspect="1"/>
          </p:cNvPicPr>
          <p:nvPr/>
        </p:nvPicPr>
        <p:blipFill>
          <a:blip r:embed="rId1"/>
          <a:stretch>
            <a:fillRect/>
          </a:stretch>
        </p:blipFill>
        <p:spPr>
          <a:xfrm>
            <a:off x="6446520" y="1828800"/>
            <a:ext cx="365760" cy="365760"/>
          </a:xfrm>
          <a:prstGeom prst="rect">
            <a:avLst/>
          </a:prstGeom>
        </p:spPr>
      </p:pic>
      <p:sp>
        <p:nvSpPr>
          <p:cNvPr id="9" name="Text 6"/>
          <p:cNvSpPr txBox="1"/>
          <p:nvPr/>
        </p:nvSpPr>
        <p:spPr>
          <a:xfrm>
            <a:off x="7315200" y="1554480"/>
            <a:ext cx="4114800" cy="914400"/>
          </a:xfrm>
          <a:prstGeom prst="rect">
            <a:avLst/>
          </a:prstGeom>
          <a:noFill/>
          <a:ln/>
        </p:spPr>
        <p:txBody>
          <a:bodyPr wrap="square" lIns="0" tIns="0" rIns="0" bIns="0" rtlCol="0" anchor="ctr"/>
          <a:lstStyle/>
          <a:p>
            <a:pPr indent="0" marL="0">
              <a:buNone/>
            </a:pPr>
            <a:r>
              <a:rPr lang="en-US" sz="2000" b="1" dirty="0">
                <a:solidFill>
                  <a:schemeClr val="tx2"/>
                </a:solidFill>
              </a:rPr>
              <a:t>Do men and women earn the same?</a:t>
            </a:r>
            <a:endParaRPr lang="en-US" sz="2000" dirty="0"/>
          </a:p>
        </p:txBody>
      </p:sp>
      <p:sp>
        <p:nvSpPr>
          <p:cNvPr id="10" name="Question card 2"/>
          <p:cNvSpPr/>
          <p:nvPr/>
        </p:nvSpPr>
        <p:spPr>
          <a:xfrm>
            <a:off x="5943600" y="2880360"/>
            <a:ext cx="5669280" cy="1280160"/>
          </a:xfrm>
          <a:prstGeom prst="roundRect">
            <a:avLst>
              <a:gd name="adj" fmla="val 10714"/>
            </a:avLst>
          </a:prstGeom>
          <a:solidFill>
            <a:schemeClr val="bg2"/>
          </a:solidFill>
          <a:ln/>
        </p:spPr>
      </p:sp>
      <p:sp>
        <p:nvSpPr>
          <p:cNvPr id="11" name="Icon circle 2"/>
          <p:cNvSpPr/>
          <p:nvPr/>
        </p:nvSpPr>
        <p:spPr>
          <a:xfrm>
            <a:off x="6217920" y="3108960"/>
            <a:ext cx="822960" cy="822960"/>
          </a:xfrm>
          <a:prstGeom prst="ellipse">
            <a:avLst/>
          </a:prstGeom>
          <a:solidFill>
            <a:schemeClr val="accent2"/>
          </a:solidFill>
          <a:ln/>
        </p:spPr>
      </p:sp>
      <p:pic>
        <p:nvPicPr>
          <p:cNvPr id="12" name="Image 1" descr="icon">    </p:cNvPr>
          <p:cNvPicPr>
            <a:picLocks noChangeAspect="1"/>
          </p:cNvPicPr>
          <p:nvPr/>
        </p:nvPicPr>
        <p:blipFill>
          <a:blip r:embed="rId2"/>
          <a:stretch>
            <a:fillRect/>
          </a:stretch>
        </p:blipFill>
        <p:spPr>
          <a:xfrm>
            <a:off x="6446520" y="3337560"/>
            <a:ext cx="365760" cy="365760"/>
          </a:xfrm>
          <a:prstGeom prst="rect">
            <a:avLst/>
          </a:prstGeom>
        </p:spPr>
      </p:pic>
      <p:sp>
        <p:nvSpPr>
          <p:cNvPr id="13" name="Text 9"/>
          <p:cNvSpPr txBox="1"/>
          <p:nvPr/>
        </p:nvSpPr>
        <p:spPr>
          <a:xfrm>
            <a:off x="7315200" y="3063240"/>
            <a:ext cx="4114800" cy="914400"/>
          </a:xfrm>
          <a:prstGeom prst="rect">
            <a:avLst/>
          </a:prstGeom>
          <a:noFill/>
          <a:ln/>
        </p:spPr>
        <p:txBody>
          <a:bodyPr wrap="square" lIns="0" tIns="0" rIns="0" bIns="0" rtlCol="0" anchor="ctr"/>
          <a:lstStyle/>
          <a:p>
            <a:pPr indent="0" marL="0">
              <a:buNone/>
            </a:pPr>
            <a:r>
              <a:rPr lang="en-US" sz="2000" b="1" dirty="0">
                <a:solidFill>
                  <a:schemeClr val="tx2"/>
                </a:solidFill>
              </a:rPr>
              <a:t>Are salary bands consistent across roles?</a:t>
            </a:r>
            <a:endParaRPr lang="en-US" sz="2000" dirty="0"/>
          </a:p>
        </p:txBody>
      </p:sp>
      <p:sp>
        <p:nvSpPr>
          <p:cNvPr id="14" name="Question card 3"/>
          <p:cNvSpPr/>
          <p:nvPr/>
        </p:nvSpPr>
        <p:spPr>
          <a:xfrm>
            <a:off x="5943600" y="4389120"/>
            <a:ext cx="5669280" cy="1280160"/>
          </a:xfrm>
          <a:prstGeom prst="roundRect">
            <a:avLst>
              <a:gd name="adj" fmla="val 10714"/>
            </a:avLst>
          </a:prstGeom>
          <a:solidFill>
            <a:schemeClr val="bg2"/>
          </a:solidFill>
          <a:ln/>
        </p:spPr>
      </p:sp>
      <p:sp>
        <p:nvSpPr>
          <p:cNvPr id="15" name="Icon circle 3"/>
          <p:cNvSpPr/>
          <p:nvPr/>
        </p:nvSpPr>
        <p:spPr>
          <a:xfrm>
            <a:off x="6217920" y="4617720"/>
            <a:ext cx="822960" cy="82296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6446520" y="4846320"/>
            <a:ext cx="365760" cy="365760"/>
          </a:xfrm>
          <a:prstGeom prst="rect">
            <a:avLst/>
          </a:prstGeom>
        </p:spPr>
      </p:pic>
      <p:sp>
        <p:nvSpPr>
          <p:cNvPr id="17" name="Text 12"/>
          <p:cNvSpPr txBox="1"/>
          <p:nvPr/>
        </p:nvSpPr>
        <p:spPr>
          <a:xfrm>
            <a:off x="7315200" y="4572000"/>
            <a:ext cx="4114800" cy="914400"/>
          </a:xfrm>
          <a:prstGeom prst="rect">
            <a:avLst/>
          </a:prstGeom>
          <a:noFill/>
          <a:ln/>
        </p:spPr>
        <p:txBody>
          <a:bodyPr wrap="square" lIns="0" tIns="0" rIns="0" bIns="0" rtlCol="0" anchor="ctr"/>
          <a:lstStyle/>
          <a:p>
            <a:pPr indent="0" marL="0">
              <a:buNone/>
            </a:pPr>
            <a:r>
              <a:rPr lang="en-US" sz="2000" b="1" dirty="0">
                <a:solidFill>
                  <a:schemeClr val="tx2"/>
                </a:solidFill>
              </a:rPr>
              <a:t>Where are the biggest gaps?</a:t>
            </a:r>
            <a:endParaRPr lang="en-US" sz="20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How I solved it: five steps</a:t>
            </a:r>
            <a:endParaRPr lang="en-US" sz="3400" dirty="0"/>
          </a:p>
        </p:txBody>
      </p:sp>
      <p:sp>
        <p:nvSpPr>
          <p:cNvPr id="3" name="Step card 1"/>
          <p:cNvSpPr/>
          <p:nvPr/>
        </p:nvSpPr>
        <p:spPr>
          <a:xfrm>
            <a:off x="548640" y="1554480"/>
            <a:ext cx="2103120" cy="4206240"/>
          </a:xfrm>
          <a:prstGeom prst="roundRect">
            <a:avLst>
              <a:gd name="adj" fmla="val 6522"/>
            </a:avLst>
          </a:prstGeom>
          <a:solidFill>
            <a:schemeClr val="bg2"/>
          </a:solidFill>
          <a:ln/>
        </p:spPr>
      </p:sp>
      <p:sp>
        <p:nvSpPr>
          <p:cNvPr id="4" name="Step icon circle 1"/>
          <p:cNvSpPr/>
          <p:nvPr/>
        </p:nvSpPr>
        <p:spPr>
          <a:xfrm>
            <a:off x="1188720" y="1783080"/>
            <a:ext cx="822960" cy="822960"/>
          </a:xfrm>
          <a:prstGeom prst="ellipse">
            <a:avLst/>
          </a:prstGeom>
          <a:solidFill>
            <a:schemeClr val="accent2"/>
          </a:solidFill>
          <a:ln/>
        </p:spPr>
      </p:sp>
      <p:pic>
        <p:nvPicPr>
          <p:cNvPr id="5" name="Image 0" descr="icon">    </p:cNvPr>
          <p:cNvPicPr>
            <a:picLocks noChangeAspect="1"/>
          </p:cNvPicPr>
          <p:nvPr/>
        </p:nvPicPr>
        <p:blipFill>
          <a:blip r:embed="rId1"/>
          <a:stretch>
            <a:fillRect/>
          </a:stretch>
        </p:blipFill>
        <p:spPr>
          <a:xfrm>
            <a:off x="1417320" y="2011680"/>
            <a:ext cx="365760" cy="365760"/>
          </a:xfrm>
          <a:prstGeom prst="rect">
            <a:avLst/>
          </a:prstGeom>
        </p:spPr>
      </p:pic>
      <p:sp>
        <p:nvSpPr>
          <p:cNvPr id="6" name="Text 3"/>
          <p:cNvSpPr txBox="1"/>
          <p:nvPr/>
        </p:nvSpPr>
        <p:spPr>
          <a:xfrm>
            <a:off x="685800" y="2788920"/>
            <a:ext cx="1828800" cy="457200"/>
          </a:xfrm>
          <a:prstGeom prst="rect">
            <a:avLst/>
          </a:prstGeom>
          <a:noFill/>
          <a:ln/>
        </p:spPr>
        <p:txBody>
          <a:bodyPr wrap="square" lIns="0" tIns="0" rIns="0" bIns="0" rtlCol="0" anchor="ctr"/>
          <a:lstStyle/>
          <a:p>
            <a:pPr algn="ctr" indent="0" marL="0">
              <a:buNone/>
            </a:pPr>
            <a:r>
              <a:rPr lang="en-US" sz="2000" b="1" dirty="0">
                <a:solidFill>
                  <a:schemeClr val="tx2"/>
                </a:solidFill>
              </a:rPr>
              <a:t>1. Clean</a:t>
            </a:r>
            <a:endParaRPr lang="en-US" sz="2000" dirty="0"/>
          </a:p>
        </p:txBody>
      </p:sp>
      <p:sp>
        <p:nvSpPr>
          <p:cNvPr id="7" name="Text 4"/>
          <p:cNvSpPr txBox="1"/>
          <p:nvPr/>
        </p:nvSpPr>
        <p:spPr>
          <a:xfrm>
            <a:off x="685800" y="3246120"/>
            <a:ext cx="1828800" cy="365760"/>
          </a:xfrm>
          <a:prstGeom prst="rect">
            <a:avLst/>
          </a:prstGeom>
          <a:noFill/>
          <a:ln/>
        </p:spPr>
        <p:txBody>
          <a:bodyPr wrap="square" lIns="0" tIns="0" rIns="0" bIns="0" rtlCol="0" anchor="ctr"/>
          <a:lstStyle/>
          <a:p>
            <a:pPr algn="ctr" indent="0" marL="0">
              <a:buNone/>
            </a:pPr>
            <a:r>
              <a:rPr lang="en-US" sz="1400" b="1" dirty="0">
                <a:solidFill>
                  <a:schemeClr val="accent1"/>
                </a:solidFill>
              </a:rPr>
              <a:t>Excel</a:t>
            </a:r>
            <a:endParaRPr lang="en-US" sz="1400" dirty="0"/>
          </a:p>
        </p:txBody>
      </p:sp>
      <p:sp>
        <p:nvSpPr>
          <p:cNvPr id="8" name="Text 5"/>
          <p:cNvSpPr txBox="1"/>
          <p:nvPr/>
        </p:nvSpPr>
        <p:spPr>
          <a:xfrm>
            <a:off x="731520" y="3703320"/>
            <a:ext cx="1737360" cy="1920240"/>
          </a:xfrm>
          <a:prstGeom prst="rect">
            <a:avLst/>
          </a:prstGeom>
          <a:noFill/>
          <a:ln/>
        </p:spPr>
        <p:txBody>
          <a:bodyPr wrap="square" lIns="0" tIns="0" rIns="0" bIns="0" rtlCol="0" anchor="t"/>
          <a:lstStyle/>
          <a:p>
            <a:pPr algn="l" indent="0" marL="0">
              <a:buNone/>
            </a:pPr>
            <a:r>
              <a:rPr lang="en-US" sz="1400" dirty="0">
                <a:solidFill>
                  <a:schemeClr val="tx1"/>
                </a:solidFill>
              </a:rPr>
              <a:t>10,750 to 10,500 rows; 250 duplicates removed; 3,900+ missing values handled</a:t>
            </a:r>
            <a:endParaRPr lang="en-US" sz="1400" dirty="0"/>
          </a:p>
        </p:txBody>
      </p:sp>
      <p:sp>
        <p:nvSpPr>
          <p:cNvPr id="9" name="Step card 2"/>
          <p:cNvSpPr/>
          <p:nvPr/>
        </p:nvSpPr>
        <p:spPr>
          <a:xfrm>
            <a:off x="2834640" y="1554480"/>
            <a:ext cx="2103120" cy="4206240"/>
          </a:xfrm>
          <a:prstGeom prst="roundRect">
            <a:avLst>
              <a:gd name="adj" fmla="val 6522"/>
            </a:avLst>
          </a:prstGeom>
          <a:solidFill>
            <a:schemeClr val="bg2"/>
          </a:solidFill>
          <a:ln/>
        </p:spPr>
      </p:sp>
      <p:sp>
        <p:nvSpPr>
          <p:cNvPr id="10" name="Step icon circle 2"/>
          <p:cNvSpPr/>
          <p:nvPr/>
        </p:nvSpPr>
        <p:spPr>
          <a:xfrm>
            <a:off x="3474720" y="1783080"/>
            <a:ext cx="822960" cy="82296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3703320" y="2011680"/>
            <a:ext cx="365760" cy="365760"/>
          </a:xfrm>
          <a:prstGeom prst="rect">
            <a:avLst/>
          </a:prstGeom>
        </p:spPr>
      </p:pic>
      <p:sp>
        <p:nvSpPr>
          <p:cNvPr id="12" name="Text 8"/>
          <p:cNvSpPr txBox="1"/>
          <p:nvPr/>
        </p:nvSpPr>
        <p:spPr>
          <a:xfrm>
            <a:off x="2971800" y="2788920"/>
            <a:ext cx="1828800" cy="457200"/>
          </a:xfrm>
          <a:prstGeom prst="rect">
            <a:avLst/>
          </a:prstGeom>
          <a:noFill/>
          <a:ln/>
        </p:spPr>
        <p:txBody>
          <a:bodyPr wrap="square" lIns="0" tIns="0" rIns="0" bIns="0" rtlCol="0" anchor="ctr"/>
          <a:lstStyle/>
          <a:p>
            <a:pPr algn="ctr" indent="0" marL="0">
              <a:buNone/>
            </a:pPr>
            <a:r>
              <a:rPr lang="en-US" sz="2000" b="1" dirty="0">
                <a:solidFill>
                  <a:schemeClr val="tx2"/>
                </a:solidFill>
              </a:rPr>
              <a:t>2. Query</a:t>
            </a:r>
            <a:endParaRPr lang="en-US" sz="2000" dirty="0"/>
          </a:p>
        </p:txBody>
      </p:sp>
      <p:sp>
        <p:nvSpPr>
          <p:cNvPr id="13" name="Text 9"/>
          <p:cNvSpPr txBox="1"/>
          <p:nvPr/>
        </p:nvSpPr>
        <p:spPr>
          <a:xfrm>
            <a:off x="2971800" y="3246120"/>
            <a:ext cx="1828800" cy="365760"/>
          </a:xfrm>
          <a:prstGeom prst="rect">
            <a:avLst/>
          </a:prstGeom>
          <a:noFill/>
          <a:ln/>
        </p:spPr>
        <p:txBody>
          <a:bodyPr wrap="square" lIns="0" tIns="0" rIns="0" bIns="0" rtlCol="0" anchor="ctr"/>
          <a:lstStyle/>
          <a:p>
            <a:pPr algn="ctr" indent="0" marL="0">
              <a:buNone/>
            </a:pPr>
            <a:r>
              <a:rPr lang="en-US" sz="1400" b="1" dirty="0">
                <a:solidFill>
                  <a:schemeClr val="accent1"/>
                </a:solidFill>
              </a:rPr>
              <a:t>SQL</a:t>
            </a:r>
            <a:endParaRPr lang="en-US" sz="1400" dirty="0"/>
          </a:p>
        </p:txBody>
      </p:sp>
      <p:sp>
        <p:nvSpPr>
          <p:cNvPr id="14" name="Text 10"/>
          <p:cNvSpPr txBox="1"/>
          <p:nvPr/>
        </p:nvSpPr>
        <p:spPr>
          <a:xfrm>
            <a:off x="3017520" y="3703320"/>
            <a:ext cx="1737360" cy="1920240"/>
          </a:xfrm>
          <a:prstGeom prst="rect">
            <a:avLst/>
          </a:prstGeom>
          <a:noFill/>
          <a:ln/>
        </p:spPr>
        <p:txBody>
          <a:bodyPr wrap="square" lIns="0" tIns="0" rIns="0" bIns="0" rtlCol="0" anchor="t"/>
          <a:lstStyle/>
          <a:p>
            <a:pPr algn="l" indent="0" marL="0">
              <a:buNone/>
            </a:pPr>
            <a:r>
              <a:rPr lang="en-US" sz="1400" dirty="0">
                <a:solidFill>
                  <a:schemeClr val="tx1"/>
                </a:solidFill>
              </a:rPr>
              <a:t>10 queries on 4 tables using JOIN, CTE and window functions</a:t>
            </a:r>
            <a:endParaRPr lang="en-US" sz="1400" dirty="0"/>
          </a:p>
        </p:txBody>
      </p:sp>
      <p:sp>
        <p:nvSpPr>
          <p:cNvPr id="15" name="Step card 3"/>
          <p:cNvSpPr/>
          <p:nvPr/>
        </p:nvSpPr>
        <p:spPr>
          <a:xfrm>
            <a:off x="5120640" y="1554480"/>
            <a:ext cx="2103120" cy="4206240"/>
          </a:xfrm>
          <a:prstGeom prst="roundRect">
            <a:avLst>
              <a:gd name="adj" fmla="val 6522"/>
            </a:avLst>
          </a:prstGeom>
          <a:solidFill>
            <a:schemeClr val="bg2"/>
          </a:solidFill>
          <a:ln/>
        </p:spPr>
      </p:sp>
      <p:sp>
        <p:nvSpPr>
          <p:cNvPr id="16" name="Step icon circle 3"/>
          <p:cNvSpPr/>
          <p:nvPr/>
        </p:nvSpPr>
        <p:spPr>
          <a:xfrm>
            <a:off x="5760720" y="1783080"/>
            <a:ext cx="822960" cy="822960"/>
          </a:xfrm>
          <a:prstGeom prst="ellipse">
            <a:avLst/>
          </a:prstGeom>
          <a:solidFill>
            <a:schemeClr val="accent2"/>
          </a:solidFill>
          <a:ln/>
        </p:spPr>
      </p:sp>
      <p:pic>
        <p:nvPicPr>
          <p:cNvPr id="17" name="Image 2" descr="icon">    </p:cNvPr>
          <p:cNvPicPr>
            <a:picLocks noChangeAspect="1"/>
          </p:cNvPicPr>
          <p:nvPr/>
        </p:nvPicPr>
        <p:blipFill>
          <a:blip r:embed="rId3"/>
          <a:stretch>
            <a:fillRect/>
          </a:stretch>
        </p:blipFill>
        <p:spPr>
          <a:xfrm>
            <a:off x="5989320" y="2011680"/>
            <a:ext cx="365760" cy="365760"/>
          </a:xfrm>
          <a:prstGeom prst="rect">
            <a:avLst/>
          </a:prstGeom>
        </p:spPr>
      </p:pic>
      <p:sp>
        <p:nvSpPr>
          <p:cNvPr id="18" name="Text 13"/>
          <p:cNvSpPr txBox="1"/>
          <p:nvPr/>
        </p:nvSpPr>
        <p:spPr>
          <a:xfrm>
            <a:off x="5257800" y="2788920"/>
            <a:ext cx="1828800" cy="457200"/>
          </a:xfrm>
          <a:prstGeom prst="rect">
            <a:avLst/>
          </a:prstGeom>
          <a:noFill/>
          <a:ln/>
        </p:spPr>
        <p:txBody>
          <a:bodyPr wrap="square" lIns="0" tIns="0" rIns="0" bIns="0" rtlCol="0" anchor="ctr"/>
          <a:lstStyle/>
          <a:p>
            <a:pPr algn="ctr" indent="0" marL="0">
              <a:buNone/>
            </a:pPr>
            <a:r>
              <a:rPr lang="en-US" sz="2000" b="1" dirty="0">
                <a:solidFill>
                  <a:schemeClr val="tx2"/>
                </a:solidFill>
              </a:rPr>
              <a:t>3. Explore</a:t>
            </a:r>
            <a:endParaRPr lang="en-US" sz="2000" dirty="0"/>
          </a:p>
        </p:txBody>
      </p:sp>
      <p:sp>
        <p:nvSpPr>
          <p:cNvPr id="19" name="Text 14"/>
          <p:cNvSpPr txBox="1"/>
          <p:nvPr/>
        </p:nvSpPr>
        <p:spPr>
          <a:xfrm>
            <a:off x="5257800" y="3246120"/>
            <a:ext cx="1828800" cy="365760"/>
          </a:xfrm>
          <a:prstGeom prst="rect">
            <a:avLst/>
          </a:prstGeom>
          <a:noFill/>
          <a:ln/>
        </p:spPr>
        <p:txBody>
          <a:bodyPr wrap="square" lIns="0" tIns="0" rIns="0" bIns="0" rtlCol="0" anchor="ctr"/>
          <a:lstStyle/>
          <a:p>
            <a:pPr algn="ctr" indent="0" marL="0">
              <a:buNone/>
            </a:pPr>
            <a:r>
              <a:rPr lang="en-US" sz="1400" b="1" dirty="0">
                <a:solidFill>
                  <a:schemeClr val="accent1"/>
                </a:solidFill>
              </a:rPr>
              <a:t>Python</a:t>
            </a:r>
            <a:endParaRPr lang="en-US" sz="1400" dirty="0"/>
          </a:p>
        </p:txBody>
      </p:sp>
      <p:sp>
        <p:nvSpPr>
          <p:cNvPr id="20" name="Text 15"/>
          <p:cNvSpPr txBox="1"/>
          <p:nvPr/>
        </p:nvSpPr>
        <p:spPr>
          <a:xfrm>
            <a:off x="5303520" y="3703320"/>
            <a:ext cx="1737360" cy="1920240"/>
          </a:xfrm>
          <a:prstGeom prst="rect">
            <a:avLst/>
          </a:prstGeom>
          <a:noFill/>
          <a:ln/>
        </p:spPr>
        <p:txBody>
          <a:bodyPr wrap="square" lIns="0" tIns="0" rIns="0" bIns="0" rtlCol="0" anchor="t"/>
          <a:lstStyle/>
          <a:p>
            <a:pPr algn="l" indent="0" marL="0">
              <a:buNone/>
            </a:pPr>
            <a:r>
              <a:rPr lang="en-US" sz="1400" dirty="0">
                <a:solidFill>
                  <a:schemeClr val="tx1"/>
                </a:solidFill>
              </a:rPr>
              <a:t>8 charts, correlations and a regression to test the gap</a:t>
            </a:r>
            <a:endParaRPr lang="en-US" sz="1400" dirty="0"/>
          </a:p>
        </p:txBody>
      </p:sp>
      <p:sp>
        <p:nvSpPr>
          <p:cNvPr id="21" name="Step card 4"/>
          <p:cNvSpPr/>
          <p:nvPr/>
        </p:nvSpPr>
        <p:spPr>
          <a:xfrm>
            <a:off x="7406640" y="1554480"/>
            <a:ext cx="2103120" cy="4206240"/>
          </a:xfrm>
          <a:prstGeom prst="roundRect">
            <a:avLst>
              <a:gd name="adj" fmla="val 6522"/>
            </a:avLst>
          </a:prstGeom>
          <a:solidFill>
            <a:schemeClr val="bg2"/>
          </a:solidFill>
          <a:ln/>
        </p:spPr>
      </p:sp>
      <p:sp>
        <p:nvSpPr>
          <p:cNvPr id="22" name="Step icon circle 4"/>
          <p:cNvSpPr/>
          <p:nvPr/>
        </p:nvSpPr>
        <p:spPr>
          <a:xfrm>
            <a:off x="8046720" y="1783080"/>
            <a:ext cx="822960" cy="822960"/>
          </a:xfrm>
          <a:prstGeom prst="ellipse">
            <a:avLst/>
          </a:prstGeom>
          <a:solidFill>
            <a:schemeClr val="accent1"/>
          </a:solidFill>
          <a:ln/>
        </p:spPr>
      </p:sp>
      <p:pic>
        <p:nvPicPr>
          <p:cNvPr id="23" name="Image 3" descr="icon">    </p:cNvPr>
          <p:cNvPicPr>
            <a:picLocks noChangeAspect="1"/>
          </p:cNvPicPr>
          <p:nvPr/>
        </p:nvPicPr>
        <p:blipFill>
          <a:blip r:embed="rId4"/>
          <a:stretch>
            <a:fillRect/>
          </a:stretch>
        </p:blipFill>
        <p:spPr>
          <a:xfrm>
            <a:off x="8275320" y="2011680"/>
            <a:ext cx="365760" cy="365760"/>
          </a:xfrm>
          <a:prstGeom prst="rect">
            <a:avLst/>
          </a:prstGeom>
        </p:spPr>
      </p:pic>
      <p:sp>
        <p:nvSpPr>
          <p:cNvPr id="24" name="Text 18"/>
          <p:cNvSpPr txBox="1"/>
          <p:nvPr/>
        </p:nvSpPr>
        <p:spPr>
          <a:xfrm>
            <a:off x="7543800" y="2788920"/>
            <a:ext cx="1828800" cy="457200"/>
          </a:xfrm>
          <a:prstGeom prst="rect">
            <a:avLst/>
          </a:prstGeom>
          <a:noFill/>
          <a:ln/>
        </p:spPr>
        <p:txBody>
          <a:bodyPr wrap="square" lIns="0" tIns="0" rIns="0" bIns="0" rtlCol="0" anchor="ctr"/>
          <a:lstStyle/>
          <a:p>
            <a:pPr algn="ctr" indent="0" marL="0">
              <a:buNone/>
            </a:pPr>
            <a:r>
              <a:rPr lang="en-US" sz="2000" b="1" dirty="0">
                <a:solidFill>
                  <a:schemeClr val="tx2"/>
                </a:solidFill>
              </a:rPr>
              <a:t>4. Visualise</a:t>
            </a:r>
            <a:endParaRPr lang="en-US" sz="2000" dirty="0"/>
          </a:p>
        </p:txBody>
      </p:sp>
      <p:sp>
        <p:nvSpPr>
          <p:cNvPr id="25" name="Text 19"/>
          <p:cNvSpPr txBox="1"/>
          <p:nvPr/>
        </p:nvSpPr>
        <p:spPr>
          <a:xfrm>
            <a:off x="7543800" y="3246120"/>
            <a:ext cx="1828800" cy="365760"/>
          </a:xfrm>
          <a:prstGeom prst="rect">
            <a:avLst/>
          </a:prstGeom>
          <a:noFill/>
          <a:ln/>
        </p:spPr>
        <p:txBody>
          <a:bodyPr wrap="square" lIns="0" tIns="0" rIns="0" bIns="0" rtlCol="0" anchor="ctr"/>
          <a:lstStyle/>
          <a:p>
            <a:pPr algn="ctr" indent="0" marL="0">
              <a:buNone/>
            </a:pPr>
            <a:r>
              <a:rPr lang="en-US" sz="1400" b="1" dirty="0">
                <a:solidFill>
                  <a:schemeClr val="accent1"/>
                </a:solidFill>
              </a:rPr>
              <a:t>Power BI</a:t>
            </a:r>
            <a:endParaRPr lang="en-US" sz="1400" dirty="0"/>
          </a:p>
        </p:txBody>
      </p:sp>
      <p:sp>
        <p:nvSpPr>
          <p:cNvPr id="26" name="Text 20"/>
          <p:cNvSpPr txBox="1"/>
          <p:nvPr/>
        </p:nvSpPr>
        <p:spPr>
          <a:xfrm>
            <a:off x="7589520" y="3703320"/>
            <a:ext cx="1737360" cy="1920240"/>
          </a:xfrm>
          <a:prstGeom prst="rect">
            <a:avLst/>
          </a:prstGeom>
          <a:noFill/>
          <a:ln/>
        </p:spPr>
        <p:txBody>
          <a:bodyPr wrap="square" lIns="0" tIns="0" rIns="0" bIns="0" rtlCol="0" anchor="t"/>
          <a:lstStyle/>
          <a:p>
            <a:pPr algn="l" indent="0" marL="0">
              <a:buNone/>
            </a:pPr>
            <a:r>
              <a:rPr lang="en-US" sz="1400" dirty="0">
                <a:solidFill>
                  <a:schemeClr val="tx1"/>
                </a:solidFill>
              </a:rPr>
              <a:t>5 filters, 5 KPI cards and 6 visuals on one page</a:t>
            </a:r>
            <a:endParaRPr lang="en-US" sz="1400" dirty="0"/>
          </a:p>
        </p:txBody>
      </p:sp>
      <p:sp>
        <p:nvSpPr>
          <p:cNvPr id="27" name="Step card 5"/>
          <p:cNvSpPr/>
          <p:nvPr/>
        </p:nvSpPr>
        <p:spPr>
          <a:xfrm>
            <a:off x="9692640" y="1554480"/>
            <a:ext cx="2103120" cy="4206240"/>
          </a:xfrm>
          <a:prstGeom prst="roundRect">
            <a:avLst>
              <a:gd name="adj" fmla="val 6522"/>
            </a:avLst>
          </a:prstGeom>
          <a:solidFill>
            <a:schemeClr val="bg2"/>
          </a:solidFill>
          <a:ln/>
        </p:spPr>
      </p:sp>
      <p:sp>
        <p:nvSpPr>
          <p:cNvPr id="28" name="Step icon circle 5"/>
          <p:cNvSpPr/>
          <p:nvPr/>
        </p:nvSpPr>
        <p:spPr>
          <a:xfrm>
            <a:off x="10332720" y="1783080"/>
            <a:ext cx="822960" cy="822960"/>
          </a:xfrm>
          <a:prstGeom prst="ellipse">
            <a:avLst/>
          </a:prstGeom>
          <a:solidFill>
            <a:schemeClr val="accent2"/>
          </a:solidFill>
          <a:ln/>
        </p:spPr>
      </p:sp>
      <p:pic>
        <p:nvPicPr>
          <p:cNvPr id="29" name="Image 4" descr="icon">    </p:cNvPr>
          <p:cNvPicPr>
            <a:picLocks noChangeAspect="1"/>
          </p:cNvPicPr>
          <p:nvPr/>
        </p:nvPicPr>
        <p:blipFill>
          <a:blip r:embed="rId5"/>
          <a:stretch>
            <a:fillRect/>
          </a:stretch>
        </p:blipFill>
        <p:spPr>
          <a:xfrm>
            <a:off x="10561320" y="2011680"/>
            <a:ext cx="365760" cy="365760"/>
          </a:xfrm>
          <a:prstGeom prst="rect">
            <a:avLst/>
          </a:prstGeom>
        </p:spPr>
      </p:pic>
      <p:sp>
        <p:nvSpPr>
          <p:cNvPr id="30" name="Text 23"/>
          <p:cNvSpPr txBox="1"/>
          <p:nvPr/>
        </p:nvSpPr>
        <p:spPr>
          <a:xfrm>
            <a:off x="9829800" y="2788920"/>
            <a:ext cx="1828800" cy="457200"/>
          </a:xfrm>
          <a:prstGeom prst="rect">
            <a:avLst/>
          </a:prstGeom>
          <a:noFill/>
          <a:ln/>
        </p:spPr>
        <p:txBody>
          <a:bodyPr wrap="square" lIns="0" tIns="0" rIns="0" bIns="0" rtlCol="0" anchor="ctr"/>
          <a:lstStyle/>
          <a:p>
            <a:pPr algn="ctr" indent="0" marL="0">
              <a:buNone/>
            </a:pPr>
            <a:r>
              <a:rPr lang="en-US" sz="2000" b="1" dirty="0">
                <a:solidFill>
                  <a:schemeClr val="tx2"/>
                </a:solidFill>
              </a:rPr>
              <a:t>5. Recommend</a:t>
            </a:r>
            <a:endParaRPr lang="en-US" sz="2000" dirty="0"/>
          </a:p>
        </p:txBody>
      </p:sp>
      <p:sp>
        <p:nvSpPr>
          <p:cNvPr id="31" name="Text 24"/>
          <p:cNvSpPr txBox="1"/>
          <p:nvPr/>
        </p:nvSpPr>
        <p:spPr>
          <a:xfrm>
            <a:off x="9829800" y="3246120"/>
            <a:ext cx="1828800" cy="365760"/>
          </a:xfrm>
          <a:prstGeom prst="rect">
            <a:avLst/>
          </a:prstGeom>
          <a:noFill/>
          <a:ln/>
        </p:spPr>
        <p:txBody>
          <a:bodyPr wrap="square" lIns="0" tIns="0" rIns="0" bIns="0" rtlCol="0" anchor="ctr"/>
          <a:lstStyle/>
          <a:p>
            <a:pPr algn="ctr" indent="0" marL="0">
              <a:buNone/>
            </a:pPr>
            <a:r>
              <a:rPr lang="en-US" sz="1400" b="1" dirty="0">
                <a:solidFill>
                  <a:schemeClr val="accent1"/>
                </a:solidFill>
              </a:rPr>
              <a:t>Report</a:t>
            </a:r>
            <a:endParaRPr lang="en-US" sz="1400" dirty="0"/>
          </a:p>
        </p:txBody>
      </p:sp>
      <p:sp>
        <p:nvSpPr>
          <p:cNvPr id="32" name="Text 25"/>
          <p:cNvSpPr txBox="1"/>
          <p:nvPr/>
        </p:nvSpPr>
        <p:spPr>
          <a:xfrm>
            <a:off x="9875520" y="3703320"/>
            <a:ext cx="1737360" cy="1920240"/>
          </a:xfrm>
          <a:prstGeom prst="rect">
            <a:avLst/>
          </a:prstGeom>
          <a:noFill/>
          <a:ln/>
        </p:spPr>
        <p:txBody>
          <a:bodyPr wrap="square" lIns="0" tIns="0" rIns="0" bIns="0" rtlCol="0" anchor="t"/>
          <a:lstStyle/>
          <a:p>
            <a:pPr algn="l" indent="0" marL="0">
              <a:buNone/>
            </a:pPr>
            <a:r>
              <a:rPr lang="en-US" sz="1400" dirty="0">
                <a:solidFill>
                  <a:schemeClr val="tx1"/>
                </a:solidFill>
              </a:rPr>
              <a:t>7 insights and 5 actions with a cost estimate</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Women earn less in every role</a:t>
            </a:r>
            <a:endParaRPr lang="en-US" sz="3400" dirty="0"/>
          </a:p>
        </p:txBody>
      </p:sp>
      <p:graphicFrame>
        <p:nvGraphicFramePr>
          <p:cNvPr id="3" name="Chart 0" descr=""/>
          <p:cNvGraphicFramePr/>
          <p:nvPr/>
        </p:nvGraphicFramePr>
        <p:xfrm>
          <a:off x="457200" y="1325880"/>
          <a:ext cx="7680960" cy="475488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8503920" y="1371600"/>
            <a:ext cx="3154680" cy="1371600"/>
          </a:xfrm>
          <a:prstGeom prst="roundRect">
            <a:avLst>
              <a:gd name="adj" fmla="val 10000"/>
            </a:avLst>
          </a:prstGeom>
          <a:solidFill>
            <a:schemeClr val="bg2"/>
          </a:solidFill>
          <a:ln/>
        </p:spPr>
      </p:sp>
      <p:sp>
        <p:nvSpPr>
          <p:cNvPr id="5" name="Text 2"/>
          <p:cNvSpPr txBox="1"/>
          <p:nvPr/>
        </p:nvSpPr>
        <p:spPr>
          <a:xfrm>
            <a:off x="8641080" y="1463040"/>
            <a:ext cx="2880360" cy="731520"/>
          </a:xfrm>
          <a:prstGeom prst="rect">
            <a:avLst/>
          </a:prstGeom>
          <a:noFill/>
          <a:ln/>
        </p:spPr>
        <p:txBody>
          <a:bodyPr wrap="square" lIns="0" tIns="0" rIns="0" bIns="0" rtlCol="0" anchor="ctr"/>
          <a:lstStyle/>
          <a:p>
            <a:pPr algn="ctr" indent="0" marL="0">
              <a:buNone/>
            </a:pPr>
            <a:r>
              <a:rPr lang="en-US" sz="3400" b="1" dirty="0">
                <a:solidFill>
                  <a:schemeClr val="accent4"/>
                </a:solidFill>
              </a:rPr>
              <a:t>6.2%</a:t>
            </a:r>
            <a:endParaRPr lang="en-US" sz="3400" dirty="0"/>
          </a:p>
        </p:txBody>
      </p:sp>
      <p:sp>
        <p:nvSpPr>
          <p:cNvPr id="6" name="Text 3"/>
          <p:cNvSpPr txBox="1"/>
          <p:nvPr/>
        </p:nvSpPr>
        <p:spPr>
          <a:xfrm>
            <a:off x="8641080" y="2194560"/>
            <a:ext cx="2880360" cy="457200"/>
          </a:xfrm>
          <a:prstGeom prst="rect">
            <a:avLst/>
          </a:prstGeom>
          <a:noFill/>
          <a:ln/>
        </p:spPr>
        <p:txBody>
          <a:bodyPr wrap="square" lIns="0" tIns="0" rIns="0" bIns="0" rtlCol="0" anchor="ctr"/>
          <a:lstStyle/>
          <a:p>
            <a:pPr algn="ctr" indent="0" marL="0">
              <a:buNone/>
            </a:pPr>
            <a:r>
              <a:rPr lang="en-US" sz="1400" dirty="0">
                <a:solidFill>
                  <a:schemeClr val="tx1"/>
                </a:solidFill>
              </a:rPr>
              <a:t>overall pay gap</a:t>
            </a:r>
            <a:endParaRPr lang="en-US" sz="1400" dirty="0"/>
          </a:p>
        </p:txBody>
      </p:sp>
      <p:sp>
        <p:nvSpPr>
          <p:cNvPr id="7" name="Stat card 2"/>
          <p:cNvSpPr/>
          <p:nvPr/>
        </p:nvSpPr>
        <p:spPr>
          <a:xfrm>
            <a:off x="8503920" y="2971800"/>
            <a:ext cx="3154680" cy="1371600"/>
          </a:xfrm>
          <a:prstGeom prst="roundRect">
            <a:avLst>
              <a:gd name="adj" fmla="val 10000"/>
            </a:avLst>
          </a:prstGeom>
          <a:solidFill>
            <a:schemeClr val="bg2"/>
          </a:solidFill>
          <a:ln/>
        </p:spPr>
      </p:sp>
      <p:sp>
        <p:nvSpPr>
          <p:cNvPr id="8" name="Text 5"/>
          <p:cNvSpPr txBox="1"/>
          <p:nvPr/>
        </p:nvSpPr>
        <p:spPr>
          <a:xfrm>
            <a:off x="8641080" y="3063240"/>
            <a:ext cx="2880360" cy="731520"/>
          </a:xfrm>
          <a:prstGeom prst="rect">
            <a:avLst/>
          </a:prstGeom>
          <a:noFill/>
          <a:ln/>
        </p:spPr>
        <p:txBody>
          <a:bodyPr wrap="square" lIns="0" tIns="0" rIns="0" bIns="0" rtlCol="0" anchor="ctr"/>
          <a:lstStyle/>
          <a:p>
            <a:pPr algn="ctr" indent="0" marL="0">
              <a:buNone/>
            </a:pPr>
            <a:r>
              <a:rPr lang="en-US" sz="3400" b="1" dirty="0">
                <a:solidFill>
                  <a:schemeClr val="accent1"/>
                </a:solidFill>
              </a:rPr>
              <a:t>8 of 8</a:t>
            </a:r>
            <a:endParaRPr lang="en-US" sz="3400" dirty="0"/>
          </a:p>
        </p:txBody>
      </p:sp>
      <p:sp>
        <p:nvSpPr>
          <p:cNvPr id="9" name="Text 6"/>
          <p:cNvSpPr txBox="1"/>
          <p:nvPr/>
        </p:nvSpPr>
        <p:spPr>
          <a:xfrm>
            <a:off x="8641080" y="3794760"/>
            <a:ext cx="2880360" cy="457200"/>
          </a:xfrm>
          <a:prstGeom prst="rect">
            <a:avLst/>
          </a:prstGeom>
          <a:noFill/>
          <a:ln/>
        </p:spPr>
        <p:txBody>
          <a:bodyPr wrap="square" lIns="0" tIns="0" rIns="0" bIns="0" rtlCol="0" anchor="ctr"/>
          <a:lstStyle/>
          <a:p>
            <a:pPr algn="ctr" indent="0" marL="0">
              <a:buNone/>
            </a:pPr>
            <a:r>
              <a:rPr lang="en-US" sz="1400" dirty="0">
                <a:solidFill>
                  <a:schemeClr val="tx1"/>
                </a:solidFill>
              </a:rPr>
              <a:t>roles show a gap</a:t>
            </a:r>
            <a:endParaRPr lang="en-US" sz="1400" dirty="0"/>
          </a:p>
        </p:txBody>
      </p:sp>
      <p:sp>
        <p:nvSpPr>
          <p:cNvPr id="10" name="Stat card 3"/>
          <p:cNvSpPr/>
          <p:nvPr/>
        </p:nvSpPr>
        <p:spPr>
          <a:xfrm>
            <a:off x="8503920" y="4572000"/>
            <a:ext cx="3154680" cy="1371600"/>
          </a:xfrm>
          <a:prstGeom prst="roundRect">
            <a:avLst>
              <a:gd name="adj" fmla="val 10000"/>
            </a:avLst>
          </a:prstGeom>
          <a:solidFill>
            <a:schemeClr val="bg2"/>
          </a:solidFill>
          <a:ln/>
        </p:spPr>
      </p:sp>
      <p:sp>
        <p:nvSpPr>
          <p:cNvPr id="11" name="Text 8"/>
          <p:cNvSpPr txBox="1"/>
          <p:nvPr/>
        </p:nvSpPr>
        <p:spPr>
          <a:xfrm>
            <a:off x="8641080" y="4663440"/>
            <a:ext cx="2880360" cy="731520"/>
          </a:xfrm>
          <a:prstGeom prst="rect">
            <a:avLst/>
          </a:prstGeom>
          <a:noFill/>
          <a:ln/>
        </p:spPr>
        <p:txBody>
          <a:bodyPr wrap="square" lIns="0" tIns="0" rIns="0" bIns="0" rtlCol="0" anchor="ctr"/>
          <a:lstStyle/>
          <a:p>
            <a:pPr algn="ctr" indent="0" marL="0">
              <a:buNone/>
            </a:pPr>
            <a:r>
              <a:rPr lang="en-US" sz="3400" b="1" dirty="0">
                <a:solidFill>
                  <a:schemeClr val="accent2"/>
                </a:solidFill>
              </a:rPr>
              <a:t>Rs 88,000</a:t>
            </a:r>
            <a:endParaRPr lang="en-US" sz="3400" dirty="0"/>
          </a:p>
        </p:txBody>
      </p:sp>
      <p:sp>
        <p:nvSpPr>
          <p:cNvPr id="12" name="Text 9"/>
          <p:cNvSpPr txBox="1"/>
          <p:nvPr/>
        </p:nvSpPr>
        <p:spPr>
          <a:xfrm>
            <a:off x="8641080" y="5394960"/>
            <a:ext cx="2880360" cy="457200"/>
          </a:xfrm>
          <a:prstGeom prst="rect">
            <a:avLst/>
          </a:prstGeom>
          <a:noFill/>
          <a:ln/>
        </p:spPr>
        <p:txBody>
          <a:bodyPr wrap="square" lIns="0" tIns="0" rIns="0" bIns="0" rtlCol="0" anchor="ctr"/>
          <a:lstStyle/>
          <a:p>
            <a:pPr algn="ctr" indent="0" marL="0">
              <a:buNone/>
            </a:pPr>
            <a:r>
              <a:rPr lang="en-US" sz="1400" dirty="0">
                <a:solidFill>
                  <a:schemeClr val="tx1"/>
                </a:solidFill>
              </a:rPr>
              <a:t>average gap per woman each year</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The gap is widest in Customer Support and Finance</a:t>
            </a:r>
            <a:endParaRPr lang="en-US" sz="3400" dirty="0"/>
          </a:p>
        </p:txBody>
      </p:sp>
      <p:graphicFrame>
        <p:nvGraphicFramePr>
          <p:cNvPr id="3" name="Chart 0" descr=""/>
          <p:cNvGraphicFramePr/>
          <p:nvPr/>
        </p:nvGraphicFramePr>
        <p:xfrm>
          <a:off x="457200" y="132588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Hot spot card 1"/>
          <p:cNvSpPr/>
          <p:nvPr/>
        </p:nvSpPr>
        <p:spPr>
          <a:xfrm>
            <a:off x="7772400" y="1371600"/>
            <a:ext cx="3886200" cy="1371600"/>
          </a:xfrm>
          <a:prstGeom prst="roundRect">
            <a:avLst>
              <a:gd name="adj" fmla="val 10000"/>
            </a:avLst>
          </a:prstGeom>
          <a:solidFill>
            <a:schemeClr val="bg2"/>
          </a:solidFill>
          <a:ln/>
        </p:spPr>
      </p:sp>
      <p:sp>
        <p:nvSpPr>
          <p:cNvPr id="5" name="Text 2"/>
          <p:cNvSpPr txBox="1"/>
          <p:nvPr/>
        </p:nvSpPr>
        <p:spPr>
          <a:xfrm>
            <a:off x="7909560" y="1463040"/>
            <a:ext cx="1417320" cy="1188720"/>
          </a:xfrm>
          <a:prstGeom prst="rect">
            <a:avLst/>
          </a:prstGeom>
          <a:noFill/>
          <a:ln/>
        </p:spPr>
        <p:txBody>
          <a:bodyPr wrap="square" lIns="0" tIns="0" rIns="0" bIns="0" rtlCol="0" anchor="ctr"/>
          <a:lstStyle/>
          <a:p>
            <a:pPr algn="ctr" indent="0" marL="0">
              <a:buNone/>
            </a:pPr>
            <a:r>
              <a:rPr lang="en-US" sz="3000" b="1" dirty="0">
                <a:solidFill>
                  <a:schemeClr val="accent4"/>
                </a:solidFill>
              </a:rPr>
              <a:t>~20%</a:t>
            </a:r>
            <a:endParaRPr lang="en-US" sz="3000" dirty="0"/>
          </a:p>
        </p:txBody>
      </p:sp>
      <p:sp>
        <p:nvSpPr>
          <p:cNvPr id="6" name="Text 3"/>
          <p:cNvSpPr txBox="1"/>
          <p:nvPr/>
        </p:nvSpPr>
        <p:spPr>
          <a:xfrm>
            <a:off x="9418320" y="1463040"/>
            <a:ext cx="2148840" cy="1188720"/>
          </a:xfrm>
          <a:prstGeom prst="rect">
            <a:avLst/>
          </a:prstGeom>
          <a:noFill/>
          <a:ln/>
        </p:spPr>
        <p:txBody>
          <a:bodyPr wrap="square" lIns="0" tIns="0" rIns="0" bIns="0" rtlCol="0" anchor="ctr"/>
          <a:lstStyle/>
          <a:p>
            <a:pPr indent="0" marL="0">
              <a:buNone/>
            </a:pPr>
            <a:r>
              <a:rPr lang="en-US" sz="1400" dirty="0">
                <a:solidFill>
                  <a:schemeClr val="tx1"/>
                </a:solidFill>
              </a:rPr>
              <a:t>gap in hot spots: Customer Support in Jaipur and Data Science in Bengaluru</a:t>
            </a:r>
            <a:endParaRPr lang="en-US" sz="1400" dirty="0"/>
          </a:p>
        </p:txBody>
      </p:sp>
      <p:sp>
        <p:nvSpPr>
          <p:cNvPr id="7" name="Hot spot card 2"/>
          <p:cNvSpPr/>
          <p:nvPr/>
        </p:nvSpPr>
        <p:spPr>
          <a:xfrm>
            <a:off x="7772400" y="2971800"/>
            <a:ext cx="3886200" cy="1371600"/>
          </a:xfrm>
          <a:prstGeom prst="roundRect">
            <a:avLst>
              <a:gd name="adj" fmla="val 10000"/>
            </a:avLst>
          </a:prstGeom>
          <a:solidFill>
            <a:schemeClr val="bg2"/>
          </a:solidFill>
          <a:ln/>
        </p:spPr>
      </p:sp>
      <p:sp>
        <p:nvSpPr>
          <p:cNvPr id="8" name="Text 5"/>
          <p:cNvSpPr txBox="1"/>
          <p:nvPr/>
        </p:nvSpPr>
        <p:spPr>
          <a:xfrm>
            <a:off x="7909560" y="3063240"/>
            <a:ext cx="1417320" cy="1188720"/>
          </a:xfrm>
          <a:prstGeom prst="rect">
            <a:avLst/>
          </a:prstGeom>
          <a:noFill/>
          <a:ln/>
        </p:spPr>
        <p:txBody>
          <a:bodyPr wrap="square" lIns="0" tIns="0" rIns="0" bIns="0" rtlCol="0" anchor="ctr"/>
          <a:lstStyle/>
          <a:p>
            <a:pPr algn="ctr" indent="0" marL="0">
              <a:buNone/>
            </a:pPr>
            <a:r>
              <a:rPr lang="en-US" sz="3000" b="1" dirty="0">
                <a:solidFill>
                  <a:schemeClr val="accent3"/>
                </a:solidFill>
              </a:rPr>
              <a:t>1.7%</a:t>
            </a:r>
            <a:endParaRPr lang="en-US" sz="3000" dirty="0"/>
          </a:p>
        </p:txBody>
      </p:sp>
      <p:sp>
        <p:nvSpPr>
          <p:cNvPr id="9" name="Text 6"/>
          <p:cNvSpPr txBox="1"/>
          <p:nvPr/>
        </p:nvSpPr>
        <p:spPr>
          <a:xfrm>
            <a:off x="9418320" y="3063240"/>
            <a:ext cx="2148840" cy="1188720"/>
          </a:xfrm>
          <a:prstGeom prst="rect">
            <a:avLst/>
          </a:prstGeom>
          <a:noFill/>
          <a:ln/>
        </p:spPr>
        <p:txBody>
          <a:bodyPr wrap="square" lIns="0" tIns="0" rIns="0" bIns="0" rtlCol="0" anchor="ctr"/>
          <a:lstStyle/>
          <a:p>
            <a:pPr indent="0" marL="0">
              <a:buNone/>
            </a:pPr>
            <a:r>
              <a:rPr lang="en-US" sz="1400" dirty="0">
                <a:solidFill>
                  <a:schemeClr val="tx1"/>
                </a:solidFill>
              </a:rPr>
              <a:t>gap in IT, the closest to equal pay</a:t>
            </a:r>
            <a:endParaRPr lang="en-US" sz="1400" dirty="0"/>
          </a:p>
        </p:txBody>
      </p:sp>
      <p:sp>
        <p:nvSpPr>
          <p:cNvPr id="10" name="Hot spot card 3"/>
          <p:cNvSpPr/>
          <p:nvPr/>
        </p:nvSpPr>
        <p:spPr>
          <a:xfrm>
            <a:off x="7772400" y="4572000"/>
            <a:ext cx="3886200" cy="1371600"/>
          </a:xfrm>
          <a:prstGeom prst="roundRect">
            <a:avLst>
              <a:gd name="adj" fmla="val 10000"/>
            </a:avLst>
          </a:prstGeom>
          <a:solidFill>
            <a:schemeClr val="bg2"/>
          </a:solidFill>
          <a:ln/>
        </p:spPr>
      </p:sp>
      <p:sp>
        <p:nvSpPr>
          <p:cNvPr id="11" name="Text 8"/>
          <p:cNvSpPr txBox="1"/>
          <p:nvPr/>
        </p:nvSpPr>
        <p:spPr>
          <a:xfrm>
            <a:off x="7909560" y="4663440"/>
            <a:ext cx="1417320" cy="1188720"/>
          </a:xfrm>
          <a:prstGeom prst="rect">
            <a:avLst/>
          </a:prstGeom>
          <a:noFill/>
          <a:ln/>
        </p:spPr>
        <p:txBody>
          <a:bodyPr wrap="square" lIns="0" tIns="0" rIns="0" bIns="0" rtlCol="0" anchor="ctr"/>
          <a:lstStyle/>
          <a:p>
            <a:pPr algn="ctr" indent="0" marL="0">
              <a:buNone/>
            </a:pPr>
            <a:r>
              <a:rPr lang="en-US" sz="3000" b="1" dirty="0">
                <a:solidFill>
                  <a:schemeClr val="accent1"/>
                </a:solidFill>
              </a:rPr>
              <a:t>42.8%</a:t>
            </a:r>
            <a:endParaRPr lang="en-US" sz="3000" dirty="0"/>
          </a:p>
        </p:txBody>
      </p:sp>
      <p:sp>
        <p:nvSpPr>
          <p:cNvPr id="12" name="Text 9"/>
          <p:cNvSpPr txBox="1"/>
          <p:nvPr/>
        </p:nvSpPr>
        <p:spPr>
          <a:xfrm>
            <a:off x="9418320" y="4663440"/>
            <a:ext cx="2148840" cy="1188720"/>
          </a:xfrm>
          <a:prstGeom prst="rect">
            <a:avLst/>
          </a:prstGeom>
          <a:noFill/>
          <a:ln/>
        </p:spPr>
        <p:txBody>
          <a:bodyPr wrap="square" lIns="0" tIns="0" rIns="0" bIns="0" rtlCol="0" anchor="ctr"/>
          <a:lstStyle/>
          <a:p>
            <a:pPr indent="0" marL="0">
              <a:buNone/>
            </a:pPr>
            <a:r>
              <a:rPr lang="en-US" sz="1400" dirty="0">
                <a:solidFill>
                  <a:schemeClr val="tx1"/>
                </a:solidFill>
              </a:rPr>
              <a:t>of the lowest-paid quarter are women, vs 37.4% of the top quarter</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Pay rules are weak, and the gap is not explained</a:t>
            </a:r>
            <a:endParaRPr lang="en-US" sz="3400" dirty="0"/>
          </a:p>
        </p:txBody>
      </p:sp>
      <p:sp>
        <p:nvSpPr>
          <p:cNvPr id="3" name="Finding card 1"/>
          <p:cNvSpPr/>
          <p:nvPr/>
        </p:nvSpPr>
        <p:spPr>
          <a:xfrm>
            <a:off x="548640" y="1463040"/>
            <a:ext cx="3520440" cy="4297680"/>
          </a:xfrm>
          <a:prstGeom prst="roundRect">
            <a:avLst>
              <a:gd name="adj" fmla="val 3896"/>
            </a:avLst>
          </a:prstGeom>
          <a:solidFill>
            <a:schemeClr val="bg2"/>
          </a:solidFill>
          <a:ln/>
        </p:spPr>
      </p:sp>
      <p:sp>
        <p:nvSpPr>
          <p:cNvPr id="4" name="Finding icon circle 1"/>
          <p:cNvSpPr/>
          <p:nvPr/>
        </p:nvSpPr>
        <p:spPr>
          <a:xfrm>
            <a:off x="1920240" y="1691640"/>
            <a:ext cx="777240" cy="777240"/>
          </a:xfrm>
          <a:prstGeom prst="ellipse">
            <a:avLst/>
          </a:prstGeom>
          <a:solidFill>
            <a:schemeClr val="accent1"/>
          </a:solidFill>
          <a:ln/>
        </p:spPr>
      </p:sp>
      <p:pic>
        <p:nvPicPr>
          <p:cNvPr id="5" name="Image 0" descr="icon">    </p:cNvPr>
          <p:cNvPicPr>
            <a:picLocks noChangeAspect="1"/>
          </p:cNvPicPr>
          <p:nvPr/>
        </p:nvPicPr>
        <p:blipFill>
          <a:blip r:embed="rId1"/>
          <a:stretch>
            <a:fillRect/>
          </a:stretch>
        </p:blipFill>
        <p:spPr>
          <a:xfrm>
            <a:off x="2121408" y="1892808"/>
            <a:ext cx="365760" cy="365760"/>
          </a:xfrm>
          <a:prstGeom prst="rect">
            <a:avLst/>
          </a:prstGeom>
        </p:spPr>
      </p:pic>
      <p:sp>
        <p:nvSpPr>
          <p:cNvPr id="6" name="Text 3"/>
          <p:cNvSpPr txBox="1"/>
          <p:nvPr/>
        </p:nvSpPr>
        <p:spPr>
          <a:xfrm>
            <a:off x="731520" y="2697480"/>
            <a:ext cx="3154680" cy="1005840"/>
          </a:xfrm>
          <a:prstGeom prst="rect">
            <a:avLst/>
          </a:prstGeom>
          <a:noFill/>
          <a:ln/>
        </p:spPr>
        <p:txBody>
          <a:bodyPr wrap="square" lIns="0" tIns="0" rIns="0" bIns="0" rtlCol="0" anchor="ctr"/>
          <a:lstStyle/>
          <a:p>
            <a:pPr algn="ctr" indent="0" marL="0">
              <a:buNone/>
            </a:pPr>
            <a:r>
              <a:rPr lang="en-US" sz="5400" b="1" dirty="0">
                <a:solidFill>
                  <a:schemeClr val="accent1"/>
                </a:solidFill>
              </a:rPr>
              <a:t>6.5%</a:t>
            </a:r>
            <a:endParaRPr lang="en-US" sz="5400" dirty="0"/>
          </a:p>
        </p:txBody>
      </p:sp>
      <p:sp>
        <p:nvSpPr>
          <p:cNvPr id="7" name="Text 4"/>
          <p:cNvSpPr txBox="1"/>
          <p:nvPr/>
        </p:nvSpPr>
        <p:spPr>
          <a:xfrm>
            <a:off x="822960" y="3794760"/>
            <a:ext cx="2971800" cy="1737360"/>
          </a:xfrm>
          <a:prstGeom prst="rect">
            <a:avLst/>
          </a:prstGeom>
          <a:noFill/>
          <a:ln/>
        </p:spPr>
        <p:txBody>
          <a:bodyPr wrap="square" lIns="0" tIns="0" rIns="0" bIns="0" rtlCol="0" anchor="t"/>
          <a:lstStyle/>
          <a:p>
            <a:pPr algn="ctr" indent="0" marL="0">
              <a:buNone/>
            </a:pPr>
            <a:r>
              <a:rPr lang="en-US" sz="1600" dirty="0">
                <a:solidFill>
                  <a:schemeClr val="tx1"/>
                </a:solidFill>
              </a:rPr>
              <a:t>gap remains after controlling for role, experience, performance, department and city</a:t>
            </a:r>
            <a:endParaRPr lang="en-US" sz="1600" dirty="0"/>
          </a:p>
        </p:txBody>
      </p:sp>
      <p:sp>
        <p:nvSpPr>
          <p:cNvPr id="8" name="Finding card 2"/>
          <p:cNvSpPr/>
          <p:nvPr/>
        </p:nvSpPr>
        <p:spPr>
          <a:xfrm>
            <a:off x="4297680" y="1463040"/>
            <a:ext cx="3520440" cy="4297680"/>
          </a:xfrm>
          <a:prstGeom prst="roundRect">
            <a:avLst>
              <a:gd name="adj" fmla="val 3896"/>
            </a:avLst>
          </a:prstGeom>
          <a:solidFill>
            <a:schemeClr val="bg2"/>
          </a:solidFill>
          <a:ln/>
        </p:spPr>
      </p:sp>
      <p:sp>
        <p:nvSpPr>
          <p:cNvPr id="9" name="Finding icon circle 2"/>
          <p:cNvSpPr/>
          <p:nvPr/>
        </p:nvSpPr>
        <p:spPr>
          <a:xfrm>
            <a:off x="5669280" y="1691640"/>
            <a:ext cx="777240" cy="777240"/>
          </a:xfrm>
          <a:prstGeom prst="ellipse">
            <a:avLst/>
          </a:prstGeom>
          <a:solidFill>
            <a:schemeClr val="accent2"/>
          </a:solidFill>
          <a:ln/>
        </p:spPr>
      </p:sp>
      <p:pic>
        <p:nvPicPr>
          <p:cNvPr id="10" name="Image 1" descr="icon">    </p:cNvPr>
          <p:cNvPicPr>
            <a:picLocks noChangeAspect="1"/>
          </p:cNvPicPr>
          <p:nvPr/>
        </p:nvPicPr>
        <p:blipFill>
          <a:blip r:embed="rId2"/>
          <a:stretch>
            <a:fillRect/>
          </a:stretch>
        </p:blipFill>
        <p:spPr>
          <a:xfrm>
            <a:off x="5870448" y="1892808"/>
            <a:ext cx="365760" cy="365760"/>
          </a:xfrm>
          <a:prstGeom prst="rect">
            <a:avLst/>
          </a:prstGeom>
        </p:spPr>
      </p:pic>
      <p:sp>
        <p:nvSpPr>
          <p:cNvPr id="11" name="Text 7"/>
          <p:cNvSpPr txBox="1"/>
          <p:nvPr/>
        </p:nvSpPr>
        <p:spPr>
          <a:xfrm>
            <a:off x="4480560" y="2697480"/>
            <a:ext cx="3154680" cy="1005840"/>
          </a:xfrm>
          <a:prstGeom prst="rect">
            <a:avLst/>
          </a:prstGeom>
          <a:noFill/>
          <a:ln/>
        </p:spPr>
        <p:txBody>
          <a:bodyPr wrap="square" lIns="0" tIns="0" rIns="0" bIns="0" rtlCol="0" anchor="ctr"/>
          <a:lstStyle/>
          <a:p>
            <a:pPr algn="ctr" indent="0" marL="0">
              <a:buNone/>
            </a:pPr>
            <a:r>
              <a:rPr lang="en-US" sz="5400" b="1" dirty="0">
                <a:solidFill>
                  <a:schemeClr val="accent2"/>
                </a:solidFill>
              </a:rPr>
              <a:t>0.00</a:t>
            </a:r>
            <a:endParaRPr lang="en-US" sz="5400" dirty="0"/>
          </a:p>
        </p:txBody>
      </p:sp>
      <p:sp>
        <p:nvSpPr>
          <p:cNvPr id="12" name="Text 8"/>
          <p:cNvSpPr txBox="1"/>
          <p:nvPr/>
        </p:nvSpPr>
        <p:spPr>
          <a:xfrm>
            <a:off x="4572000" y="3794760"/>
            <a:ext cx="2971800" cy="1737360"/>
          </a:xfrm>
          <a:prstGeom prst="rect">
            <a:avLst/>
          </a:prstGeom>
          <a:noFill/>
          <a:ln/>
        </p:spPr>
        <p:txBody>
          <a:bodyPr wrap="square" lIns="0" tIns="0" rIns="0" bIns="0" rtlCol="0" anchor="t"/>
          <a:lstStyle/>
          <a:p>
            <a:pPr algn="ctr" indent="0" marL="0">
              <a:buNone/>
            </a:pPr>
            <a:r>
              <a:rPr lang="en-US" sz="1600" dirty="0">
                <a:solidFill>
                  <a:schemeClr val="tx1"/>
                </a:solidFill>
              </a:rPr>
              <a:t>correlation between performance rating and salary: pay ignores performance</a:t>
            </a:r>
            <a:endParaRPr lang="en-US" sz="1600" dirty="0"/>
          </a:p>
        </p:txBody>
      </p:sp>
      <p:sp>
        <p:nvSpPr>
          <p:cNvPr id="13" name="Finding card 3"/>
          <p:cNvSpPr/>
          <p:nvPr/>
        </p:nvSpPr>
        <p:spPr>
          <a:xfrm>
            <a:off x="8046720" y="1463040"/>
            <a:ext cx="3520440" cy="4297680"/>
          </a:xfrm>
          <a:prstGeom prst="roundRect">
            <a:avLst>
              <a:gd name="adj" fmla="val 3896"/>
            </a:avLst>
          </a:prstGeom>
          <a:solidFill>
            <a:schemeClr val="bg2"/>
          </a:solidFill>
          <a:ln/>
        </p:spPr>
      </p:sp>
      <p:sp>
        <p:nvSpPr>
          <p:cNvPr id="14" name="Finding icon circle 3"/>
          <p:cNvSpPr/>
          <p:nvPr/>
        </p:nvSpPr>
        <p:spPr>
          <a:xfrm>
            <a:off x="9418320" y="1691640"/>
            <a:ext cx="777240" cy="777240"/>
          </a:xfrm>
          <a:prstGeom prst="ellipse">
            <a:avLst/>
          </a:prstGeom>
          <a:solidFill>
            <a:schemeClr val="accent4"/>
          </a:solidFill>
          <a:ln/>
        </p:spPr>
      </p:sp>
      <p:pic>
        <p:nvPicPr>
          <p:cNvPr id="15" name="Image 2" descr="icon">    </p:cNvPr>
          <p:cNvPicPr>
            <a:picLocks noChangeAspect="1"/>
          </p:cNvPicPr>
          <p:nvPr/>
        </p:nvPicPr>
        <p:blipFill>
          <a:blip r:embed="rId3"/>
          <a:stretch>
            <a:fillRect/>
          </a:stretch>
        </p:blipFill>
        <p:spPr>
          <a:xfrm>
            <a:off x="9619488" y="1892808"/>
            <a:ext cx="365760" cy="365760"/>
          </a:xfrm>
          <a:prstGeom prst="rect">
            <a:avLst/>
          </a:prstGeom>
        </p:spPr>
      </p:pic>
      <p:sp>
        <p:nvSpPr>
          <p:cNvPr id="16" name="Text 11"/>
          <p:cNvSpPr txBox="1"/>
          <p:nvPr/>
        </p:nvSpPr>
        <p:spPr>
          <a:xfrm>
            <a:off x="8229600" y="2697480"/>
            <a:ext cx="3154680" cy="1005840"/>
          </a:xfrm>
          <a:prstGeom prst="rect">
            <a:avLst/>
          </a:prstGeom>
          <a:noFill/>
          <a:ln/>
        </p:spPr>
        <p:txBody>
          <a:bodyPr wrap="square" lIns="0" tIns="0" rIns="0" bIns="0" rtlCol="0" anchor="ctr"/>
          <a:lstStyle/>
          <a:p>
            <a:pPr algn="ctr" indent="0" marL="0">
              <a:buNone/>
            </a:pPr>
            <a:r>
              <a:rPr lang="en-US" sz="5400" b="1" dirty="0">
                <a:solidFill>
                  <a:schemeClr val="accent4"/>
                </a:solidFill>
              </a:rPr>
              <a:t>4.6x</a:t>
            </a:r>
            <a:endParaRPr lang="en-US" sz="5400" dirty="0"/>
          </a:p>
        </p:txBody>
      </p:sp>
      <p:sp>
        <p:nvSpPr>
          <p:cNvPr id="17" name="Text 12"/>
          <p:cNvSpPr txBox="1"/>
          <p:nvPr/>
        </p:nvSpPr>
        <p:spPr>
          <a:xfrm>
            <a:off x="8321040" y="3794760"/>
            <a:ext cx="2971800" cy="1737360"/>
          </a:xfrm>
          <a:prstGeom prst="rect">
            <a:avLst/>
          </a:prstGeom>
          <a:noFill/>
          <a:ln/>
        </p:spPr>
        <p:txBody>
          <a:bodyPr wrap="square" lIns="0" tIns="0" rIns="0" bIns="0" rtlCol="0" anchor="t"/>
          <a:lstStyle/>
          <a:p>
            <a:pPr algn="ctr" indent="0" marL="0">
              <a:buNone/>
            </a:pPr>
            <a:r>
              <a:rPr lang="en-US" sz="1600" dirty="0">
                <a:solidFill>
                  <a:schemeClr val="tx1"/>
                </a:solidFill>
              </a:rPr>
              <a:t>widest salary band in one role; 368 people earn over 1.5x their role average</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Power BI dashboard for HR leaders</a:t>
            </a:r>
            <a:endParaRPr lang="en-US" sz="3400" dirty="0"/>
          </a:p>
        </p:txBody>
      </p:sp>
      <p:pic>
        <p:nvPicPr>
          <p:cNvPr id="3" name="Image 0" descr="Power BI dashboard with filters, KPI cards and six charts">    </p:cNvPr>
          <p:cNvPicPr>
            <a:picLocks noChangeAspect="1"/>
          </p:cNvPicPr>
          <p:nvPr/>
        </p:nvPicPr>
        <p:blipFill>
          <a:blip r:embed="rId1"/>
          <a:stretch>
            <a:fillRect/>
          </a:stretch>
        </p:blipFill>
        <p:spPr>
          <a:xfrm>
            <a:off x="457200" y="1371600"/>
            <a:ext cx="7863840" cy="4425696"/>
          </a:xfrm>
          <a:prstGeom prst="rect">
            <a:avLst/>
          </a:prstGeom>
        </p:spPr>
      </p:pic>
      <p:sp>
        <p:nvSpPr>
          <p:cNvPr id="4" name="Dashboard card 1"/>
          <p:cNvSpPr/>
          <p:nvPr/>
        </p:nvSpPr>
        <p:spPr>
          <a:xfrm>
            <a:off x="8595360" y="1371600"/>
            <a:ext cx="3063240" cy="1325880"/>
          </a:xfrm>
          <a:prstGeom prst="roundRect">
            <a:avLst>
              <a:gd name="adj" fmla="val 10345"/>
            </a:avLst>
          </a:prstGeom>
          <a:solidFill>
            <a:schemeClr val="bg2"/>
          </a:solidFill>
          <a:ln/>
        </p:spPr>
      </p:sp>
      <p:sp>
        <p:nvSpPr>
          <p:cNvPr id="5" name="Text 2"/>
          <p:cNvSpPr txBox="1"/>
          <p:nvPr/>
        </p:nvSpPr>
        <p:spPr>
          <a:xfrm>
            <a:off x="8732520" y="1463040"/>
            <a:ext cx="2788920" cy="1143000"/>
          </a:xfrm>
          <a:prstGeom prst="rect">
            <a:avLst/>
          </a:prstGeom>
          <a:noFill/>
          <a:ln/>
        </p:spPr>
        <p:txBody>
          <a:bodyPr wrap="square" lIns="0" tIns="0" rIns="0" bIns="0" rtlCol="0" anchor="ctr"/>
          <a:lstStyle/>
          <a:p>
            <a:pPr indent="0" marL="0">
              <a:buNone/>
            </a:pPr>
            <a:r>
              <a:rPr lang="en-US" sz="2000" b="1" dirty="0">
                <a:solidFill>
                  <a:schemeClr val="accent1"/>
                </a:solidFill>
              </a:rPr>
              <a:t>5 filters</a:t>
            </a:r>
            <a:endParaRPr lang="en-US" sz="2000" dirty="0"/>
          </a:p>
          <a:p>
            <a:pPr indent="0" marL="0">
              <a:buNone/>
            </a:pPr>
            <a:r>
              <a:rPr lang="en-US" sz="1400" dirty="0">
                <a:solidFill>
                  <a:schemeClr val="tx1"/>
                </a:solidFill>
              </a:rPr>
              <a:t>Department, role, city, education, experience</a:t>
            </a:r>
            <a:endParaRPr lang="en-US" sz="2000" dirty="0"/>
          </a:p>
        </p:txBody>
      </p:sp>
      <p:sp>
        <p:nvSpPr>
          <p:cNvPr id="6" name="Dashboard card 2"/>
          <p:cNvSpPr/>
          <p:nvPr/>
        </p:nvSpPr>
        <p:spPr>
          <a:xfrm>
            <a:off x="8595360" y="2880360"/>
            <a:ext cx="3063240" cy="1325880"/>
          </a:xfrm>
          <a:prstGeom prst="roundRect">
            <a:avLst>
              <a:gd name="adj" fmla="val 10345"/>
            </a:avLst>
          </a:prstGeom>
          <a:solidFill>
            <a:schemeClr val="bg2"/>
          </a:solidFill>
          <a:ln/>
        </p:spPr>
      </p:sp>
      <p:sp>
        <p:nvSpPr>
          <p:cNvPr id="7" name="Text 4"/>
          <p:cNvSpPr txBox="1"/>
          <p:nvPr/>
        </p:nvSpPr>
        <p:spPr>
          <a:xfrm>
            <a:off x="8732520" y="2971800"/>
            <a:ext cx="2788920" cy="1143000"/>
          </a:xfrm>
          <a:prstGeom prst="rect">
            <a:avLst/>
          </a:prstGeom>
          <a:noFill/>
          <a:ln/>
        </p:spPr>
        <p:txBody>
          <a:bodyPr wrap="square" lIns="0" tIns="0" rIns="0" bIns="0" rtlCol="0" anchor="ctr"/>
          <a:lstStyle/>
          <a:p>
            <a:pPr indent="0" marL="0">
              <a:buNone/>
            </a:pPr>
            <a:r>
              <a:rPr lang="en-US" sz="2000" b="1" dirty="0">
                <a:solidFill>
                  <a:schemeClr val="accent1"/>
                </a:solidFill>
              </a:rPr>
              <a:t>5 KPI cards</a:t>
            </a:r>
            <a:endParaRPr lang="en-US" sz="2000" dirty="0"/>
          </a:p>
          <a:p>
            <a:pPr indent="0" marL="0">
              <a:buNone/>
            </a:pPr>
            <a:r>
              <a:rPr lang="en-US" sz="1400" dirty="0">
                <a:solidFill>
                  <a:schemeClr val="tx1"/>
                </a:solidFill>
              </a:rPr>
              <a:t>Employees, average and median salary, gap %, women %</a:t>
            </a:r>
            <a:endParaRPr lang="en-US" sz="2000" dirty="0"/>
          </a:p>
        </p:txBody>
      </p:sp>
      <p:sp>
        <p:nvSpPr>
          <p:cNvPr id="8" name="Dashboard card 3"/>
          <p:cNvSpPr/>
          <p:nvPr/>
        </p:nvSpPr>
        <p:spPr>
          <a:xfrm>
            <a:off x="8595360" y="4389120"/>
            <a:ext cx="3063240" cy="1325880"/>
          </a:xfrm>
          <a:prstGeom prst="roundRect">
            <a:avLst>
              <a:gd name="adj" fmla="val 10345"/>
            </a:avLst>
          </a:prstGeom>
          <a:solidFill>
            <a:schemeClr val="bg2"/>
          </a:solidFill>
          <a:ln/>
        </p:spPr>
      </p:sp>
      <p:sp>
        <p:nvSpPr>
          <p:cNvPr id="9" name="Text 6"/>
          <p:cNvSpPr txBox="1"/>
          <p:nvPr/>
        </p:nvSpPr>
        <p:spPr>
          <a:xfrm>
            <a:off x="8732520" y="4480560"/>
            <a:ext cx="2788920" cy="1143000"/>
          </a:xfrm>
          <a:prstGeom prst="rect">
            <a:avLst/>
          </a:prstGeom>
          <a:noFill/>
          <a:ln/>
        </p:spPr>
        <p:txBody>
          <a:bodyPr wrap="square" lIns="0" tIns="0" rIns="0" bIns="0" rtlCol="0" anchor="ctr"/>
          <a:lstStyle/>
          <a:p>
            <a:pPr indent="0" marL="0">
              <a:buNone/>
            </a:pPr>
            <a:r>
              <a:rPr lang="en-US" sz="2000" b="1" dirty="0">
                <a:solidFill>
                  <a:schemeClr val="accent1"/>
                </a:solidFill>
              </a:rPr>
              <a:t>6 visuals</a:t>
            </a:r>
            <a:endParaRPr lang="en-US" sz="2000" dirty="0"/>
          </a:p>
          <a:p>
            <a:pPr indent="0" marL="0">
              <a:buNone/>
            </a:pPr>
            <a:r>
              <a:rPr lang="en-US" sz="1400" dirty="0">
                <a:solidFill>
                  <a:schemeClr val="tx1"/>
                </a:solidFill>
              </a:rPr>
              <a:t>Role, department, gender, experience, city, heatmap</a:t>
            </a:r>
            <a:endParaRPr lang="en-US" sz="2000" dirty="0"/>
          </a:p>
        </p:txBody>
      </p:sp>
      <p:sp>
        <p:nvSpPr>
          <p:cNvPr id="10" name="Text 7"/>
          <p:cNvSpPr txBox="1"/>
          <p:nvPr/>
        </p:nvSpPr>
        <p:spPr>
          <a:xfrm>
            <a:off x="457200" y="5943600"/>
            <a:ext cx="11155680" cy="365760"/>
          </a:xfrm>
          <a:prstGeom prst="rect">
            <a:avLst/>
          </a:prstGeom>
          <a:noFill/>
          <a:ln/>
        </p:spPr>
        <p:txBody>
          <a:bodyPr wrap="square" lIns="0" tIns="0" rIns="0" bIns="0" rtlCol="0" anchor="ctr"/>
          <a:lstStyle/>
          <a:p>
            <a:pPr indent="0" marL="0">
              <a:buNone/>
            </a:pPr>
            <a:r>
              <a:rPr lang="en-US" sz="1400" i="1" dirty="0">
                <a:solidFill>
                  <a:schemeClr val="tx2"/>
                </a:solidFill>
              </a:rPr>
              <a:t>Try it: choose IT and the gap falls to 1.7%; choose Customer Support and it rises to 12.4%.</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14304D"/>
                </a:solidFill>
              </a:rPr>
              <a:t>Five actions for HR</a:t>
            </a:r>
            <a:endParaRPr lang="en-US" sz="3400" dirty="0"/>
          </a:p>
        </p:txBody>
      </p:sp>
      <p:sp>
        <p:nvSpPr>
          <p:cNvPr id="3" name="Action icon circle 1"/>
          <p:cNvSpPr/>
          <p:nvPr/>
        </p:nvSpPr>
        <p:spPr>
          <a:xfrm>
            <a:off x="548640" y="1371600"/>
            <a:ext cx="731520" cy="731520"/>
          </a:xfrm>
          <a:prstGeom prst="ellipse">
            <a:avLst/>
          </a:prstGeom>
          <a:solidFill>
            <a:schemeClr val="accent2"/>
          </a:solidFill>
          <a:ln/>
        </p:spPr>
      </p:sp>
      <p:pic>
        <p:nvPicPr>
          <p:cNvPr id="4" name="Image 0" descr="icon">    </p:cNvPr>
          <p:cNvPicPr>
            <a:picLocks noChangeAspect="1"/>
          </p:cNvPicPr>
          <p:nvPr/>
        </p:nvPicPr>
        <p:blipFill>
          <a:blip r:embed="rId1"/>
          <a:stretch>
            <a:fillRect/>
          </a:stretch>
        </p:blipFill>
        <p:spPr>
          <a:xfrm>
            <a:off x="731520" y="1554480"/>
            <a:ext cx="365760" cy="365760"/>
          </a:xfrm>
          <a:prstGeom prst="rect">
            <a:avLst/>
          </a:prstGeom>
        </p:spPr>
      </p:pic>
      <p:sp>
        <p:nvSpPr>
          <p:cNvPr id="5" name="Text 2"/>
          <p:cNvSpPr txBox="1"/>
          <p:nvPr/>
        </p:nvSpPr>
        <p:spPr>
          <a:xfrm>
            <a:off x="1508760" y="1325880"/>
            <a:ext cx="6126480" cy="868680"/>
          </a:xfrm>
          <a:prstGeom prst="rect">
            <a:avLst/>
          </a:prstGeom>
          <a:noFill/>
          <a:ln/>
        </p:spPr>
        <p:txBody>
          <a:bodyPr wrap="square" lIns="0" tIns="0" rIns="0" bIns="0" rtlCol="0" anchor="ctr"/>
          <a:lstStyle/>
          <a:p>
            <a:pPr indent="0" marL="0">
              <a:buNone/>
            </a:pPr>
            <a:r>
              <a:rPr lang="en-US" sz="1800" b="1" dirty="0">
                <a:solidFill>
                  <a:schemeClr val="tx2"/>
                </a:solidFill>
              </a:rPr>
              <a:t>Pay equity adjustment</a:t>
            </a:r>
            <a:endParaRPr lang="en-US" sz="1800" dirty="0"/>
          </a:p>
          <a:p>
            <a:pPr indent="0" marL="0">
              <a:buNone/>
            </a:pPr>
            <a:r>
              <a:rPr lang="en-US" sz="1400" dirty="0">
                <a:solidFill>
                  <a:schemeClr val="tx1"/>
                </a:solidFill>
              </a:rPr>
              <a:t>Raise women paid below male peers, starting with Manager, Director, Customer Support, Finance</a:t>
            </a:r>
            <a:endParaRPr lang="en-US" sz="1800" dirty="0"/>
          </a:p>
        </p:txBody>
      </p:sp>
      <p:sp>
        <p:nvSpPr>
          <p:cNvPr id="6" name="Action icon circle 2"/>
          <p:cNvSpPr/>
          <p:nvPr/>
        </p:nvSpPr>
        <p:spPr>
          <a:xfrm>
            <a:off x="548640" y="2331720"/>
            <a:ext cx="731520" cy="731520"/>
          </a:xfrm>
          <a:prstGeom prst="ellipse">
            <a:avLst/>
          </a:prstGeom>
          <a:solidFill>
            <a:schemeClr val="accent1"/>
          </a:solidFill>
          <a:ln/>
        </p:spPr>
      </p:sp>
      <p:pic>
        <p:nvPicPr>
          <p:cNvPr id="7" name="Image 1" descr="icon">    </p:cNvPr>
          <p:cNvPicPr>
            <a:picLocks noChangeAspect="1"/>
          </p:cNvPicPr>
          <p:nvPr/>
        </p:nvPicPr>
        <p:blipFill>
          <a:blip r:embed="rId2"/>
          <a:stretch>
            <a:fillRect/>
          </a:stretch>
        </p:blipFill>
        <p:spPr>
          <a:xfrm>
            <a:off x="731520" y="2514600"/>
            <a:ext cx="365760" cy="365760"/>
          </a:xfrm>
          <a:prstGeom prst="rect">
            <a:avLst/>
          </a:prstGeom>
        </p:spPr>
      </p:pic>
      <p:sp>
        <p:nvSpPr>
          <p:cNvPr id="8" name="Text 4"/>
          <p:cNvSpPr txBox="1"/>
          <p:nvPr/>
        </p:nvSpPr>
        <p:spPr>
          <a:xfrm>
            <a:off x="1508760" y="2286000"/>
            <a:ext cx="6126480" cy="868680"/>
          </a:xfrm>
          <a:prstGeom prst="rect">
            <a:avLst/>
          </a:prstGeom>
          <a:noFill/>
          <a:ln/>
        </p:spPr>
        <p:txBody>
          <a:bodyPr wrap="square" lIns="0" tIns="0" rIns="0" bIns="0" rtlCol="0" anchor="ctr"/>
          <a:lstStyle/>
          <a:p>
            <a:pPr indent="0" marL="0">
              <a:buNone/>
            </a:pPr>
            <a:r>
              <a:rPr lang="en-US" sz="1800" b="1" dirty="0">
                <a:solidFill>
                  <a:schemeClr val="tx2"/>
                </a:solidFill>
              </a:rPr>
              <a:t>Tighter salary bands</a:t>
            </a:r>
            <a:endParaRPr lang="en-US" sz="1800" dirty="0"/>
          </a:p>
          <a:p>
            <a:pPr indent="0" marL="0">
              <a:buNone/>
            </a:pPr>
            <a:r>
              <a:rPr lang="en-US" sz="1400" dirty="0">
                <a:solidFill>
                  <a:schemeClr val="tx1"/>
                </a:solidFill>
              </a:rPr>
              <a:t>About 25% either side of a midpoint; review the 368 employees above 1.5x</a:t>
            </a:r>
            <a:endParaRPr lang="en-US" sz="1800" dirty="0"/>
          </a:p>
        </p:txBody>
      </p:sp>
      <p:sp>
        <p:nvSpPr>
          <p:cNvPr id="9" name="Action icon circle 3"/>
          <p:cNvSpPr/>
          <p:nvPr/>
        </p:nvSpPr>
        <p:spPr>
          <a:xfrm>
            <a:off x="548640" y="3291840"/>
            <a:ext cx="731520" cy="731520"/>
          </a:xfrm>
          <a:prstGeom prst="ellipse">
            <a:avLst/>
          </a:prstGeom>
          <a:solidFill>
            <a:schemeClr val="accent2"/>
          </a:solidFill>
          <a:ln/>
        </p:spPr>
      </p:sp>
      <p:pic>
        <p:nvPicPr>
          <p:cNvPr id="10" name="Image 2" descr="icon">    </p:cNvPr>
          <p:cNvPicPr>
            <a:picLocks noChangeAspect="1"/>
          </p:cNvPicPr>
          <p:nvPr/>
        </p:nvPicPr>
        <p:blipFill>
          <a:blip r:embed="rId3"/>
          <a:stretch>
            <a:fillRect/>
          </a:stretch>
        </p:blipFill>
        <p:spPr>
          <a:xfrm>
            <a:off x="731520" y="3474720"/>
            <a:ext cx="365760" cy="365760"/>
          </a:xfrm>
          <a:prstGeom prst="rect">
            <a:avLst/>
          </a:prstGeom>
        </p:spPr>
      </p:pic>
      <p:sp>
        <p:nvSpPr>
          <p:cNvPr id="11" name="Text 6"/>
          <p:cNvSpPr txBox="1"/>
          <p:nvPr/>
        </p:nvSpPr>
        <p:spPr>
          <a:xfrm>
            <a:off x="1508760" y="3246120"/>
            <a:ext cx="6126480" cy="868680"/>
          </a:xfrm>
          <a:prstGeom prst="rect">
            <a:avLst/>
          </a:prstGeom>
          <a:noFill/>
          <a:ln/>
        </p:spPr>
        <p:txBody>
          <a:bodyPr wrap="square" lIns="0" tIns="0" rIns="0" bIns="0" rtlCol="0" anchor="ctr"/>
          <a:lstStyle/>
          <a:p>
            <a:pPr indent="0" marL="0">
              <a:buNone/>
            </a:pPr>
            <a:r>
              <a:rPr lang="en-US" sz="1800" b="1" dirty="0">
                <a:solidFill>
                  <a:schemeClr val="tx2"/>
                </a:solidFill>
              </a:rPr>
              <a:t>Link pay to performance</a:t>
            </a:r>
            <a:endParaRPr lang="en-US" sz="1800" dirty="0"/>
          </a:p>
          <a:p>
            <a:pPr indent="0" marL="0">
              <a:buNone/>
            </a:pPr>
            <a:r>
              <a:rPr lang="en-US" sz="1400" dirty="0">
                <a:solidFill>
                  <a:schemeClr val="tx1"/>
                </a:solidFill>
              </a:rPr>
              <a:t>Merit matrix: higher raises for rating 5, none for ratings 1 and 2</a:t>
            </a:r>
            <a:endParaRPr lang="en-US" sz="1800" dirty="0"/>
          </a:p>
        </p:txBody>
      </p:sp>
      <p:sp>
        <p:nvSpPr>
          <p:cNvPr id="12" name="Action icon circle 4"/>
          <p:cNvSpPr/>
          <p:nvPr/>
        </p:nvSpPr>
        <p:spPr>
          <a:xfrm>
            <a:off x="548640" y="4251960"/>
            <a:ext cx="731520" cy="731520"/>
          </a:xfrm>
          <a:prstGeom prst="ellipse">
            <a:avLst/>
          </a:prstGeom>
          <a:solidFill>
            <a:schemeClr val="accent1"/>
          </a:solidFill>
          <a:ln/>
        </p:spPr>
      </p:sp>
      <p:pic>
        <p:nvPicPr>
          <p:cNvPr id="13" name="Image 3" descr="icon">    </p:cNvPr>
          <p:cNvPicPr>
            <a:picLocks noChangeAspect="1"/>
          </p:cNvPicPr>
          <p:nvPr/>
        </p:nvPicPr>
        <p:blipFill>
          <a:blip r:embed="rId4"/>
          <a:stretch>
            <a:fillRect/>
          </a:stretch>
        </p:blipFill>
        <p:spPr>
          <a:xfrm>
            <a:off x="731520" y="4434840"/>
            <a:ext cx="365760" cy="365760"/>
          </a:xfrm>
          <a:prstGeom prst="rect">
            <a:avLst/>
          </a:prstGeom>
        </p:spPr>
      </p:pic>
      <p:sp>
        <p:nvSpPr>
          <p:cNvPr id="14" name="Text 8"/>
          <p:cNvSpPr txBox="1"/>
          <p:nvPr/>
        </p:nvSpPr>
        <p:spPr>
          <a:xfrm>
            <a:off x="1508760" y="4206240"/>
            <a:ext cx="6126480" cy="868680"/>
          </a:xfrm>
          <a:prstGeom prst="rect">
            <a:avLst/>
          </a:prstGeom>
          <a:noFill/>
          <a:ln/>
        </p:spPr>
        <p:txBody>
          <a:bodyPr wrap="square" lIns="0" tIns="0" rIns="0" bIns="0" rtlCol="0" anchor="ctr"/>
          <a:lstStyle/>
          <a:p>
            <a:pPr indent="0" marL="0">
              <a:buNone/>
            </a:pPr>
            <a:r>
              <a:rPr lang="en-US" sz="1800" b="1" dirty="0">
                <a:solidFill>
                  <a:schemeClr val="tx2"/>
                </a:solidFill>
              </a:rPr>
              <a:t>Fair hiring and promotion rules</a:t>
            </a:r>
            <a:endParaRPr lang="en-US" sz="1800" dirty="0"/>
          </a:p>
          <a:p>
            <a:pPr indent="0" marL="0">
              <a:buNone/>
            </a:pPr>
            <a:r>
              <a:rPr lang="en-US" sz="1400" dirty="0">
                <a:solidFill>
                  <a:schemeClr val="tx1"/>
                </a:solidFill>
              </a:rPr>
              <a:t>Offers from band midpoint; HR approval above 90% of band max</a:t>
            </a:r>
            <a:endParaRPr lang="en-US" sz="1800" dirty="0"/>
          </a:p>
        </p:txBody>
      </p:sp>
      <p:sp>
        <p:nvSpPr>
          <p:cNvPr id="15" name="Action icon circle 5"/>
          <p:cNvSpPr/>
          <p:nvPr/>
        </p:nvSpPr>
        <p:spPr>
          <a:xfrm>
            <a:off x="548640" y="5212080"/>
            <a:ext cx="731520" cy="731520"/>
          </a:xfrm>
          <a:prstGeom prst="ellipse">
            <a:avLst/>
          </a:prstGeom>
          <a:solidFill>
            <a:schemeClr val="accent2"/>
          </a:solidFill>
          <a:ln/>
        </p:spPr>
      </p:sp>
      <p:pic>
        <p:nvPicPr>
          <p:cNvPr id="16" name="Image 4" descr="icon">    </p:cNvPr>
          <p:cNvPicPr>
            <a:picLocks noChangeAspect="1"/>
          </p:cNvPicPr>
          <p:nvPr/>
        </p:nvPicPr>
        <p:blipFill>
          <a:blip r:embed="rId5"/>
          <a:stretch>
            <a:fillRect/>
          </a:stretch>
        </p:blipFill>
        <p:spPr>
          <a:xfrm>
            <a:off x="731520" y="5394960"/>
            <a:ext cx="365760" cy="365760"/>
          </a:xfrm>
          <a:prstGeom prst="rect">
            <a:avLst/>
          </a:prstGeom>
        </p:spPr>
      </p:pic>
      <p:sp>
        <p:nvSpPr>
          <p:cNvPr id="17" name="Text 10"/>
          <p:cNvSpPr txBox="1"/>
          <p:nvPr/>
        </p:nvSpPr>
        <p:spPr>
          <a:xfrm>
            <a:off x="1508760" y="5166360"/>
            <a:ext cx="6126480" cy="868680"/>
          </a:xfrm>
          <a:prstGeom prst="rect">
            <a:avLst/>
          </a:prstGeom>
          <a:noFill/>
          <a:ln/>
        </p:spPr>
        <p:txBody>
          <a:bodyPr wrap="square" lIns="0" tIns="0" rIns="0" bIns="0" rtlCol="0" anchor="ctr"/>
          <a:lstStyle/>
          <a:p>
            <a:pPr indent="0" marL="0">
              <a:buNone/>
            </a:pPr>
            <a:r>
              <a:rPr lang="en-US" sz="1800" b="1" dirty="0">
                <a:solidFill>
                  <a:schemeClr val="tx2"/>
                </a:solidFill>
              </a:rPr>
              <a:t>City tiers and monitoring</a:t>
            </a:r>
            <a:endParaRPr lang="en-US" sz="1800" dirty="0"/>
          </a:p>
          <a:p>
            <a:pPr indent="0" marL="0">
              <a:buNone/>
            </a:pPr>
            <a:r>
              <a:rPr lang="en-US" sz="1400" dirty="0">
                <a:solidFill>
                  <a:schemeClr val="tx1"/>
                </a:solidFill>
              </a:rPr>
              <a:t>Fixed city differentials; review the dashboard every quarter</a:t>
            </a:r>
            <a:endParaRPr lang="en-US" sz="1800" dirty="0"/>
          </a:p>
        </p:txBody>
      </p:sp>
      <p:sp>
        <p:nvSpPr>
          <p:cNvPr id="18" name="Cost card"/>
          <p:cNvSpPr/>
          <p:nvPr/>
        </p:nvSpPr>
        <p:spPr>
          <a:xfrm>
            <a:off x="8138160" y="1371600"/>
            <a:ext cx="3520440" cy="4572000"/>
          </a:xfrm>
          <a:prstGeom prst="roundRect">
            <a:avLst>
              <a:gd name="adj" fmla="val 3896"/>
            </a:avLst>
          </a:prstGeom>
          <a:solidFill>
            <a:schemeClr val="tx2"/>
          </a:solidFill>
          <a:ln/>
        </p:spPr>
      </p:sp>
      <p:sp>
        <p:nvSpPr>
          <p:cNvPr id="19" name="Text 12"/>
          <p:cNvSpPr txBox="1"/>
          <p:nvPr/>
        </p:nvSpPr>
        <p:spPr>
          <a:xfrm>
            <a:off x="8366760" y="1645920"/>
            <a:ext cx="3063240" cy="4023360"/>
          </a:xfrm>
          <a:prstGeom prst="rect">
            <a:avLst/>
          </a:prstGeom>
          <a:noFill/>
          <a:ln/>
        </p:spPr>
        <p:txBody>
          <a:bodyPr wrap="square" lIns="0" tIns="0" rIns="0" bIns="0" rtlCol="0" anchor="t"/>
          <a:lstStyle/>
          <a:p>
            <a:pPr indent="0" marL="0">
              <a:buNone/>
            </a:pPr>
            <a:r>
              <a:rPr lang="en-US" sz="1600" dirty="0">
                <a:solidFill>
                  <a:schemeClr val="accent5"/>
                </a:solidFill>
              </a:rPr>
              <a:t>Estimated cost</a:t>
            </a:r>
            <a:endParaRPr lang="en-US" sz="1600" dirty="0"/>
          </a:p>
          <a:p>
            <a:pPr indent="0" marL="0">
              <a:buNone/>
            </a:pPr>
            <a:r>
              <a:rPr lang="en-US" sz="3800" b="1" dirty="0">
                <a:solidFill>
                  <a:schemeClr val="bg1"/>
                </a:solidFill>
              </a:rPr>
              <a:t>Rs 36 crore</a:t>
            </a:r>
            <a:endParaRPr lang="en-US" sz="1600" dirty="0"/>
          </a:p>
          <a:p>
            <a:pPr indent="0" marL="0">
              <a:buNone/>
            </a:pPr>
            <a:r>
              <a:rPr lang="en-US" sz="1400" dirty="0">
                <a:solidFill>
                  <a:schemeClr val="bg1"/>
                </a:solidFill>
              </a:rPr>
              <a:t>a year, about 2.5% of payroll</a:t>
            </a:r>
            <a:endParaRPr lang="en-US" sz="1600" dirty="0"/>
          </a:p>
          <a:p>
            <a:pPr indent="0" marL="0">
              <a:buNone/>
            </a:pPr>
            <a:r>
              <a:rPr lang="en-US" sz="1000" dirty="0">
                <a:solidFill>
                  <a:srgbClr val="000000"/>
                </a:solidFill>
              </a:rPr>
              <a:t> </a:t>
            </a:r>
            <a:endParaRPr lang="en-US" sz="1600" dirty="0"/>
          </a:p>
          <a:p>
            <a:pPr indent="0" marL="0">
              <a:buNone/>
            </a:pPr>
            <a:r>
              <a:rPr lang="en-US" sz="1600" dirty="0">
                <a:solidFill>
                  <a:schemeClr val="accent5"/>
                </a:solidFill>
              </a:rPr>
              <a:t>Target</a:t>
            </a:r>
            <a:endParaRPr lang="en-US" sz="1600" dirty="0"/>
          </a:p>
          <a:p>
            <a:pPr indent="0" marL="0">
              <a:buNone/>
            </a:pPr>
            <a:r>
              <a:rPr lang="en-US" sz="1800" b="1" dirty="0">
                <a:solidFill>
                  <a:schemeClr val="bg1"/>
                </a:solidFill>
              </a:rPr>
              <a:t>Gap from 6.2% to under 2% in 12 months</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914400"/>
          </a:xfrm>
          <a:prstGeom prst="rect">
            <a:avLst/>
          </a:prstGeom>
          <a:noFill/>
          <a:ln/>
        </p:spPr>
        <p:txBody>
          <a:bodyPr wrap="square" lIns="0" tIns="0" rIns="0" bIns="0" rtlCol="0" anchor="ctr"/>
          <a:lstStyle/>
          <a:p>
            <a:pPr indent="0" marL="0">
              <a:buNone/>
            </a:pPr>
            <a:r>
              <a:rPr lang="en-US" sz="3800" b="1" dirty="0">
                <a:solidFill>
                  <a:srgbClr val="FFFFFF"/>
                </a:solidFill>
              </a:rPr>
              <a:t>Pay is not consistent, but it is fixable</a:t>
            </a:r>
            <a:endParaRPr lang="en-US" sz="3800" dirty="0"/>
          </a:p>
        </p:txBody>
      </p:sp>
      <p:sp>
        <p:nvSpPr>
          <p:cNvPr id="3" name="Takeaway card 1"/>
          <p:cNvSpPr/>
          <p:nvPr/>
        </p:nvSpPr>
        <p:spPr>
          <a:xfrm>
            <a:off x="640080" y="1828800"/>
            <a:ext cx="3520440" cy="2560320"/>
          </a:xfrm>
          <a:prstGeom prst="roundRect">
            <a:avLst>
              <a:gd name="adj" fmla="val 5357"/>
            </a:avLst>
          </a:prstGeom>
          <a:solidFill>
            <a:schemeClr val="accent2"/>
          </a:solidFill>
          <a:ln/>
        </p:spPr>
      </p:sp>
      <p:sp>
        <p:nvSpPr>
          <p:cNvPr id="4" name="Text 2"/>
          <p:cNvSpPr txBox="1"/>
          <p:nvPr/>
        </p:nvSpPr>
        <p:spPr>
          <a:xfrm>
            <a:off x="868680" y="2011680"/>
            <a:ext cx="3063240" cy="2194560"/>
          </a:xfrm>
          <a:prstGeom prst="rect">
            <a:avLst/>
          </a:prstGeom>
          <a:noFill/>
          <a:ln/>
        </p:spPr>
        <p:txBody>
          <a:bodyPr wrap="square" lIns="0" tIns="0" rIns="0" bIns="0" rtlCol="0" anchor="t"/>
          <a:lstStyle/>
          <a:p>
            <a:pPr indent="0" marL="0">
              <a:buNone/>
            </a:pPr>
            <a:r>
              <a:rPr lang="en-US" sz="2400" b="1" dirty="0">
                <a:solidFill>
                  <a:schemeClr val="accent1"/>
                </a:solidFill>
              </a:rPr>
              <a:t>Not consistent</a:t>
            </a:r>
            <a:endParaRPr lang="en-US" sz="2400" dirty="0"/>
          </a:p>
          <a:p>
            <a:pPr indent="0" marL="0">
              <a:buNone/>
            </a:pPr>
            <a:r>
              <a:rPr lang="en-US" sz="1600" dirty="0">
                <a:solidFill>
                  <a:schemeClr val="bg1"/>
                </a:solidFill>
              </a:rPr>
              <a:t>Women earn 6.2% less, in every role</a:t>
            </a:r>
            <a:endParaRPr lang="en-US" sz="2400" dirty="0"/>
          </a:p>
        </p:txBody>
      </p:sp>
      <p:sp>
        <p:nvSpPr>
          <p:cNvPr id="5" name="Takeaway card 2"/>
          <p:cNvSpPr/>
          <p:nvPr/>
        </p:nvSpPr>
        <p:spPr>
          <a:xfrm>
            <a:off x="4389120" y="1828800"/>
            <a:ext cx="3520440" cy="2560320"/>
          </a:xfrm>
          <a:prstGeom prst="roundRect">
            <a:avLst>
              <a:gd name="adj" fmla="val 5357"/>
            </a:avLst>
          </a:prstGeom>
          <a:solidFill>
            <a:schemeClr val="accent2"/>
          </a:solidFill>
          <a:ln/>
        </p:spPr>
      </p:sp>
      <p:sp>
        <p:nvSpPr>
          <p:cNvPr id="6" name="Text 4"/>
          <p:cNvSpPr txBox="1"/>
          <p:nvPr/>
        </p:nvSpPr>
        <p:spPr>
          <a:xfrm>
            <a:off x="4617720" y="2011680"/>
            <a:ext cx="3063240" cy="2194560"/>
          </a:xfrm>
          <a:prstGeom prst="rect">
            <a:avLst/>
          </a:prstGeom>
          <a:noFill/>
          <a:ln/>
        </p:spPr>
        <p:txBody>
          <a:bodyPr wrap="square" lIns="0" tIns="0" rIns="0" bIns="0" rtlCol="0" anchor="t"/>
          <a:lstStyle/>
          <a:p>
            <a:pPr indent="0" marL="0">
              <a:buNone/>
            </a:pPr>
            <a:r>
              <a:rPr lang="en-US" sz="2400" b="1" dirty="0">
                <a:solidFill>
                  <a:schemeClr val="bg1"/>
                </a:solidFill>
              </a:rPr>
              <a:t>Not explained</a:t>
            </a:r>
            <a:endParaRPr lang="en-US" sz="2400" dirty="0"/>
          </a:p>
          <a:p>
            <a:pPr indent="0" marL="0">
              <a:buNone/>
            </a:pPr>
            <a:r>
              <a:rPr lang="en-US" sz="1600" dirty="0">
                <a:solidFill>
                  <a:schemeClr val="bg1"/>
                </a:solidFill>
              </a:rPr>
              <a:t>Gap stays 6.5% after controls; pay ignores performance</a:t>
            </a:r>
            <a:endParaRPr lang="en-US" sz="2400" dirty="0"/>
          </a:p>
        </p:txBody>
      </p:sp>
      <p:sp>
        <p:nvSpPr>
          <p:cNvPr id="7" name="Takeaway card 3"/>
          <p:cNvSpPr/>
          <p:nvPr/>
        </p:nvSpPr>
        <p:spPr>
          <a:xfrm>
            <a:off x="8138160" y="1828800"/>
            <a:ext cx="3520440" cy="2560320"/>
          </a:xfrm>
          <a:prstGeom prst="roundRect">
            <a:avLst>
              <a:gd name="adj" fmla="val 5357"/>
            </a:avLst>
          </a:prstGeom>
          <a:solidFill>
            <a:schemeClr val="accent2"/>
          </a:solidFill>
          <a:ln/>
        </p:spPr>
      </p:sp>
      <p:sp>
        <p:nvSpPr>
          <p:cNvPr id="8" name="Text 6"/>
          <p:cNvSpPr txBox="1"/>
          <p:nvPr/>
        </p:nvSpPr>
        <p:spPr>
          <a:xfrm>
            <a:off x="8366760" y="2011680"/>
            <a:ext cx="3063240" cy="2194560"/>
          </a:xfrm>
          <a:prstGeom prst="rect">
            <a:avLst/>
          </a:prstGeom>
          <a:noFill/>
          <a:ln/>
        </p:spPr>
        <p:txBody>
          <a:bodyPr wrap="square" lIns="0" tIns="0" rIns="0" bIns="0" rtlCol="0" anchor="t"/>
          <a:lstStyle/>
          <a:p>
            <a:pPr indent="0" marL="0">
              <a:buNone/>
            </a:pPr>
            <a:r>
              <a:rPr lang="en-US" sz="2400" b="1" dirty="0">
                <a:solidFill>
                  <a:schemeClr val="bg1"/>
                </a:solidFill>
              </a:rPr>
              <a:t>Fixable</a:t>
            </a:r>
            <a:endParaRPr lang="en-US" sz="2400" dirty="0"/>
          </a:p>
          <a:p>
            <a:pPr indent="0" marL="0">
              <a:buNone/>
            </a:pPr>
            <a:r>
              <a:rPr lang="en-US" sz="1600" dirty="0">
                <a:solidFill>
                  <a:schemeClr val="bg1"/>
                </a:solidFill>
              </a:rPr>
              <a:t>Rs 36 crore a year closes it, and the dashboard tracks progress</a:t>
            </a:r>
            <a:endParaRPr lang="en-US" sz="2400" dirty="0"/>
          </a:p>
        </p:txBody>
      </p:sp>
      <p:sp>
        <p:nvSpPr>
          <p:cNvPr id="9" name="Text 7"/>
          <p:cNvSpPr txBox="1"/>
          <p:nvPr/>
        </p:nvSpPr>
        <p:spPr>
          <a:xfrm>
            <a:off x="640080" y="5029200"/>
            <a:ext cx="10881360" cy="822960"/>
          </a:xfrm>
          <a:prstGeom prst="rect">
            <a:avLst/>
          </a:prstGeom>
          <a:noFill/>
          <a:ln/>
        </p:spPr>
        <p:txBody>
          <a:bodyPr wrap="square" lIns="0" tIns="0" rIns="0" bIns="0" rtlCol="0" anchor="ctr"/>
          <a:lstStyle/>
          <a:p>
            <a:pPr indent="0" marL="0">
              <a:buNone/>
            </a:pPr>
            <a:r>
              <a:rPr lang="en-US" sz="3200" b="1" dirty="0">
                <a:solidFill>
                  <a:schemeClr val="bg1"/>
                </a:solidFill>
              </a:rPr>
              <a:t>Thank you. Questions?</a:t>
            </a:r>
            <a:endParaRPr lang="en-US" sz="3200" dirty="0"/>
          </a:p>
        </p:txBody>
      </p:sp>
    </p:spTree>
  </p:cSld>
  <p:clrMapOvr>
    <a:masterClrMapping/>
  </p:clrMapOvr>
</p:sld>
</file>

<file path=ppt/theme/theme1.xml><?xml version="1.0" encoding="utf-8"?>
<a:theme xmlns:a="http://schemas.openxmlformats.org/drawingml/2006/main" name="PayEquity">
  <a:themeElements>
    <a:clrScheme name="PayEquity">
      <a:dk1>
        <a:srgbClr val="1F2937"/>
      </a:dk1>
      <a:lt1>
        <a:srgbClr val="FFFFFF"/>
      </a:lt1>
      <a:dk2>
        <a:srgbClr val="14304D"/>
      </a:dk2>
      <a:lt2>
        <a:srgbClr val="EAF1F8"/>
      </a:lt2>
      <a:accent1>
        <a:srgbClr val="E07B39"/>
      </a:accent1>
      <a:accent2>
        <a:srgbClr val="1F4E78"/>
      </a:accent2>
      <a:accent3>
        <a:srgbClr val="2E8B57"/>
      </a:accent3>
      <a:accent4>
        <a:srgbClr val="C0504D"/>
      </a:accent4>
      <a:accent5>
        <a:srgbClr val="9DC3E6"/>
      </a:accent5>
      <a:accent6>
        <a:srgbClr val="F2C14E"/>
      </a:accent6>
      <a:hlink>
        <a:srgbClr val="1F4E78"/>
      </a:hlink>
      <a:folHlink>
        <a:srgbClr val="7F7F7F"/>
      </a:folHlink>
    </a:clrScheme>
    <a:fontScheme name="PayEqu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DA-23 Salary Band &amp; Pay Gap Analysis</dc:title>
  <dc:subject>HR &amp; Workforce</dc:subject>
  <dc:creator>PptxGenJS</dc:creator>
  <cp:lastModifiedBy>PptxGenJS</cp:lastModifiedBy>
  <cp:revision>1</cp:revision>
  <dcterms:created xsi:type="dcterms:W3CDTF">2026-10-17T14:44:23Z</dcterms:created>
  <dcterms:modified xsi:type="dcterms:W3CDTF">2026-10-17T14:44:23Z</dcterms:modified>
</cp:coreProperties>
</file>